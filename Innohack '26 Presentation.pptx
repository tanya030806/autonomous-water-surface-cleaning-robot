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4" r:id="rId3"/>
    <p:sldId id="257" r:id="rId4"/>
    <p:sldId id="258" r:id="rId5"/>
    <p:sldId id="261" r:id="rId6"/>
    <p:sldId id="268" r:id="rId7"/>
    <p:sldId id="266" r:id="rId8"/>
    <p:sldId id="265" r:id="rId9"/>
    <p:sldId id="259" r:id="rId10"/>
    <p:sldId id="267" r:id="rId11"/>
    <p:sldId id="262" r:id="rId12"/>
    <p:sldId id="263" r:id="rId13"/>
    <p:sldId id="260" r:id="rId14"/>
  </p:sldIdLst>
  <p:sldSz cx="18288000" cy="10287000"/>
  <p:notesSz cx="6858000" cy="9144000"/>
  <p:embeddedFontLst>
    <p:embeddedFont>
      <p:font typeface="Monda" panose="020B0604020202020204" charset="0"/>
      <p:regular r:id="rId15"/>
    </p:embeddedFont>
    <p:embeddedFont>
      <p:font typeface="Monda Bold" panose="020B0604020202020204" charset="0"/>
      <p:regular r:id="rId16"/>
    </p:embeddedFont>
    <p:embeddedFont>
      <p:font typeface="Montserrat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50" d="100"/>
          <a:sy n="50" d="100"/>
        </p:scale>
        <p:origin x="97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sp>
      <p:sp>
        <p:nvSpPr>
          <p:cNvPr id="3" name="Freeform 3"/>
          <p:cNvSpPr/>
          <p:nvPr/>
        </p:nvSpPr>
        <p:spPr>
          <a:xfrm flipH="1">
            <a:off x="10273276" y="5039691"/>
            <a:ext cx="8014721" cy="5247309"/>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15978" t="976" r="1000" b="-13372"/>
            </a:stretch>
          </a:blipFill>
        </p:spPr>
      </p:sp>
      <p:sp>
        <p:nvSpPr>
          <p:cNvPr id="4" name="Freeform 4"/>
          <p:cNvSpPr/>
          <p:nvPr/>
        </p:nvSpPr>
        <p:spPr>
          <a:xfrm flipV="1">
            <a:off x="1" y="-1"/>
            <a:ext cx="7656226" cy="4836786"/>
          </a:xfrm>
          <a:custGeom>
            <a:avLst/>
            <a:gdLst/>
            <a:ahLst/>
            <a:cxnLst/>
            <a:rect l="l" t="t" r="r" b="b"/>
            <a:pathLst>
              <a:path w="9295205" h="5948931">
                <a:moveTo>
                  <a:pt x="0" y="5948932"/>
                </a:moveTo>
                <a:lnTo>
                  <a:pt x="9295206" y="5948932"/>
                </a:lnTo>
                <a:lnTo>
                  <a:pt x="9295206"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21724" t="2447" r="316" b="-25439"/>
            </a:stretch>
          </a:blipFill>
        </p:spPr>
      </p:sp>
      <p:sp>
        <p:nvSpPr>
          <p:cNvPr id="5" name="Freeform 5"/>
          <p:cNvSpPr/>
          <p:nvPr/>
        </p:nvSpPr>
        <p:spPr>
          <a:xfrm>
            <a:off x="14790631" y="-1"/>
            <a:ext cx="3497369" cy="4354746"/>
          </a:xfrm>
          <a:custGeom>
            <a:avLst/>
            <a:gdLst/>
            <a:ahLst/>
            <a:cxnLst/>
            <a:rect l="l" t="t" r="r" b="b"/>
            <a:pathLst>
              <a:path w="5568589" h="7775011">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t="-78541" r="-59222"/>
            </a:stretch>
          </a:blipFill>
        </p:spPr>
      </p:sp>
      <p:sp>
        <p:nvSpPr>
          <p:cNvPr id="6" name="Freeform 6"/>
          <p:cNvSpPr/>
          <p:nvPr/>
        </p:nvSpPr>
        <p:spPr>
          <a:xfrm>
            <a:off x="0" y="6399495"/>
            <a:ext cx="4922503" cy="3887506"/>
          </a:xfrm>
          <a:custGeom>
            <a:avLst/>
            <a:gdLst/>
            <a:ahLst/>
            <a:cxnLst/>
            <a:rect l="l" t="t" r="r" b="b"/>
            <a:pathLst>
              <a:path w="5568589" h="7775011">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13126" b="-100000"/>
            </a:stretch>
          </a:blipFill>
        </p:spPr>
      </p:sp>
      <p:grpSp>
        <p:nvGrpSpPr>
          <p:cNvPr id="7" name="Group 7"/>
          <p:cNvGrpSpPr/>
          <p:nvPr/>
        </p:nvGrpSpPr>
        <p:grpSpPr>
          <a:xfrm>
            <a:off x="741534" y="313408"/>
            <a:ext cx="16804932" cy="1430584"/>
            <a:chOff x="0" y="0"/>
            <a:chExt cx="22406576" cy="1907446"/>
          </a:xfrm>
        </p:grpSpPr>
        <p:sp>
          <p:nvSpPr>
            <p:cNvPr id="8" name="Freeform 8"/>
            <p:cNvSpPr/>
            <p:nvPr/>
          </p:nvSpPr>
          <p:spPr>
            <a:xfrm>
              <a:off x="0" y="150874"/>
              <a:ext cx="3712374" cy="1605698"/>
            </a:xfrm>
            <a:custGeom>
              <a:avLst/>
              <a:gdLst/>
              <a:ahLst/>
              <a:cxnLst/>
              <a:rect l="l" t="t" r="r" b="b"/>
              <a:pathLst>
                <a:path w="3712374" h="1605698">
                  <a:moveTo>
                    <a:pt x="0" y="0"/>
                  </a:moveTo>
                  <a:lnTo>
                    <a:pt x="3712374" y="0"/>
                  </a:lnTo>
                  <a:lnTo>
                    <a:pt x="3712374" y="1605698"/>
                  </a:lnTo>
                  <a:lnTo>
                    <a:pt x="0" y="1605698"/>
                  </a:lnTo>
                  <a:lnTo>
                    <a:pt x="0" y="0"/>
                  </a:lnTo>
                  <a:close/>
                </a:path>
              </a:pathLst>
            </a:custGeom>
            <a:blipFill>
              <a:blip r:embed="rId7"/>
              <a:stretch>
                <a:fillRect/>
              </a:stretch>
            </a:blipFill>
          </p:spPr>
        </p:sp>
        <p:sp>
          <p:nvSpPr>
            <p:cNvPr id="9" name="Freeform 9"/>
            <p:cNvSpPr/>
            <p:nvPr/>
          </p:nvSpPr>
          <p:spPr>
            <a:xfrm>
              <a:off x="6714080" y="158453"/>
              <a:ext cx="5796843" cy="1605698"/>
            </a:xfrm>
            <a:custGeom>
              <a:avLst/>
              <a:gdLst/>
              <a:ahLst/>
              <a:cxnLst/>
              <a:rect l="l" t="t" r="r" b="b"/>
              <a:pathLst>
                <a:path w="5796843" h="1605698">
                  <a:moveTo>
                    <a:pt x="0" y="0"/>
                  </a:moveTo>
                  <a:lnTo>
                    <a:pt x="5796842" y="0"/>
                  </a:lnTo>
                  <a:lnTo>
                    <a:pt x="5796842" y="1605698"/>
                  </a:lnTo>
                  <a:lnTo>
                    <a:pt x="0" y="1605698"/>
                  </a:lnTo>
                  <a:lnTo>
                    <a:pt x="0" y="0"/>
                  </a:lnTo>
                  <a:close/>
                </a:path>
              </a:pathLst>
            </a:custGeom>
            <a:blipFill>
              <a:blip r:embed="rId8"/>
              <a:stretch>
                <a:fillRect/>
              </a:stretch>
            </a:blipFill>
          </p:spPr>
        </p:sp>
        <p:sp>
          <p:nvSpPr>
            <p:cNvPr id="10" name="Freeform 10"/>
            <p:cNvSpPr/>
            <p:nvPr/>
          </p:nvSpPr>
          <p:spPr>
            <a:xfrm>
              <a:off x="4013117" y="150874"/>
              <a:ext cx="2396163" cy="1605698"/>
            </a:xfrm>
            <a:custGeom>
              <a:avLst/>
              <a:gdLst/>
              <a:ahLst/>
              <a:cxnLst/>
              <a:rect l="l" t="t" r="r" b="b"/>
              <a:pathLst>
                <a:path w="2396163" h="1605698">
                  <a:moveTo>
                    <a:pt x="0" y="0"/>
                  </a:moveTo>
                  <a:lnTo>
                    <a:pt x="2396163" y="0"/>
                  </a:lnTo>
                  <a:lnTo>
                    <a:pt x="2396163" y="1605698"/>
                  </a:lnTo>
                  <a:lnTo>
                    <a:pt x="0" y="1605698"/>
                  </a:lnTo>
                  <a:lnTo>
                    <a:pt x="0" y="0"/>
                  </a:lnTo>
                  <a:close/>
                </a:path>
              </a:pathLst>
            </a:custGeom>
            <a:blipFill>
              <a:blip r:embed="rId9"/>
              <a:stretch>
                <a:fillRect t="-24186" b="-25042"/>
              </a:stretch>
            </a:blipFill>
          </p:spPr>
        </p:sp>
        <p:sp>
          <p:nvSpPr>
            <p:cNvPr id="11" name="Freeform 11"/>
            <p:cNvSpPr/>
            <p:nvPr/>
          </p:nvSpPr>
          <p:spPr>
            <a:xfrm>
              <a:off x="12815722" y="90445"/>
              <a:ext cx="1928172" cy="1817001"/>
            </a:xfrm>
            <a:custGeom>
              <a:avLst/>
              <a:gdLst/>
              <a:ahLst/>
              <a:cxnLst/>
              <a:rect l="l" t="t" r="r" b="b"/>
              <a:pathLst>
                <a:path w="1928172" h="1817001">
                  <a:moveTo>
                    <a:pt x="0" y="0"/>
                  </a:moveTo>
                  <a:lnTo>
                    <a:pt x="1928173" y="0"/>
                  </a:lnTo>
                  <a:lnTo>
                    <a:pt x="1928173" y="1817001"/>
                  </a:lnTo>
                  <a:lnTo>
                    <a:pt x="0" y="1817001"/>
                  </a:lnTo>
                  <a:lnTo>
                    <a:pt x="0" y="0"/>
                  </a:lnTo>
                  <a:close/>
                </a:path>
              </a:pathLst>
            </a:custGeom>
            <a:blipFill>
              <a:blip r:embed="rId10"/>
              <a:stretch>
                <a:fillRect l="-17520" t="-23511" r="-17122" b="-19368"/>
              </a:stretch>
            </a:blipFill>
          </p:spPr>
        </p:sp>
        <p:sp>
          <p:nvSpPr>
            <p:cNvPr id="12" name="Freeform 12"/>
            <p:cNvSpPr/>
            <p:nvPr/>
          </p:nvSpPr>
          <p:spPr>
            <a:xfrm>
              <a:off x="15048695" y="90445"/>
              <a:ext cx="3280844" cy="1764151"/>
            </a:xfrm>
            <a:custGeom>
              <a:avLst/>
              <a:gdLst/>
              <a:ahLst/>
              <a:cxnLst/>
              <a:rect l="l" t="t" r="r" b="b"/>
              <a:pathLst>
                <a:path w="3280844" h="1764151">
                  <a:moveTo>
                    <a:pt x="0" y="0"/>
                  </a:moveTo>
                  <a:lnTo>
                    <a:pt x="3280844" y="0"/>
                  </a:lnTo>
                  <a:lnTo>
                    <a:pt x="3280844" y="1764151"/>
                  </a:lnTo>
                  <a:lnTo>
                    <a:pt x="0" y="1764151"/>
                  </a:lnTo>
                  <a:lnTo>
                    <a:pt x="0" y="0"/>
                  </a:lnTo>
                  <a:close/>
                </a:path>
              </a:pathLst>
            </a:custGeom>
            <a:blipFill>
              <a:blip r:embed="rId11"/>
              <a:stretch>
                <a:fillRect t="-35076" b="-50896"/>
              </a:stretch>
            </a:blipFill>
          </p:spPr>
        </p:sp>
        <p:sp>
          <p:nvSpPr>
            <p:cNvPr id="13" name="Freeform 13"/>
            <p:cNvSpPr/>
            <p:nvPr/>
          </p:nvSpPr>
          <p:spPr>
            <a:xfrm>
              <a:off x="18634339" y="0"/>
              <a:ext cx="3772237" cy="1907446"/>
            </a:xfrm>
            <a:custGeom>
              <a:avLst/>
              <a:gdLst/>
              <a:ahLst/>
              <a:cxnLst/>
              <a:rect l="l" t="t" r="r" b="b"/>
              <a:pathLst>
                <a:path w="3772237" h="1907446">
                  <a:moveTo>
                    <a:pt x="0" y="0"/>
                  </a:moveTo>
                  <a:lnTo>
                    <a:pt x="3772237" y="0"/>
                  </a:lnTo>
                  <a:lnTo>
                    <a:pt x="3772237" y="1907446"/>
                  </a:lnTo>
                  <a:lnTo>
                    <a:pt x="0" y="1907446"/>
                  </a:lnTo>
                  <a:lnTo>
                    <a:pt x="0" y="0"/>
                  </a:lnTo>
                  <a:close/>
                </a:path>
              </a:pathLst>
            </a:custGeom>
            <a:blipFill>
              <a:blip r:embed="rId12"/>
              <a:stretch>
                <a:fillRect t="-45119" b="-52644"/>
              </a:stretch>
            </a:blipFill>
          </p:spPr>
        </p:sp>
      </p:grpSp>
      <p:sp>
        <p:nvSpPr>
          <p:cNvPr id="14" name="TextBox 14"/>
          <p:cNvSpPr txBox="1"/>
          <p:nvPr/>
        </p:nvSpPr>
        <p:spPr>
          <a:xfrm>
            <a:off x="2743480" y="3724644"/>
            <a:ext cx="12801040" cy="1842236"/>
          </a:xfrm>
          <a:prstGeom prst="rect">
            <a:avLst/>
          </a:prstGeom>
        </p:spPr>
        <p:txBody>
          <a:bodyPr lIns="0" tIns="0" rIns="0" bIns="0" rtlCol="0" anchor="t">
            <a:spAutoFit/>
          </a:bodyPr>
          <a:lstStyle/>
          <a:p>
            <a:pPr algn="ctr">
              <a:lnSpc>
                <a:spcPts val="14887"/>
              </a:lnSpc>
            </a:pPr>
            <a:r>
              <a:rPr lang="en-US" sz="10634" b="1" dirty="0">
                <a:solidFill>
                  <a:srgbClr val="002B58"/>
                </a:solidFill>
                <a:latin typeface="Monda Bold"/>
                <a:ea typeface="Monda Bold"/>
                <a:cs typeface="Monda Bold"/>
                <a:sym typeface="Monda Bold"/>
              </a:rPr>
              <a:t>Sky Forge </a:t>
            </a:r>
          </a:p>
        </p:txBody>
      </p:sp>
      <p:sp>
        <p:nvSpPr>
          <p:cNvPr id="15" name="TextBox 15"/>
          <p:cNvSpPr txBox="1"/>
          <p:nvPr/>
        </p:nvSpPr>
        <p:spPr>
          <a:xfrm>
            <a:off x="5524055" y="5517667"/>
            <a:ext cx="7239891" cy="1099185"/>
          </a:xfrm>
          <a:prstGeom prst="rect">
            <a:avLst/>
          </a:prstGeom>
        </p:spPr>
        <p:txBody>
          <a:bodyPr lIns="0" tIns="0" rIns="0" bIns="0" rtlCol="0" anchor="t">
            <a:spAutoFit/>
          </a:bodyPr>
          <a:lstStyle/>
          <a:p>
            <a:pPr algn="ctr">
              <a:lnSpc>
                <a:spcPts val="2940"/>
              </a:lnSpc>
            </a:pPr>
            <a:r>
              <a:rPr lang="en-US" sz="2100" b="1" spc="315" dirty="0">
                <a:solidFill>
                  <a:srgbClr val="002B58"/>
                </a:solidFill>
                <a:latin typeface="Montserrat Bold"/>
                <a:ea typeface="Montserrat Bold"/>
                <a:cs typeface="Montserrat Bold"/>
                <a:sym typeface="Montserrat Bold"/>
              </a:rPr>
              <a:t>COLLEGE NAME: VIT Vellore</a:t>
            </a:r>
          </a:p>
          <a:p>
            <a:pPr algn="ctr">
              <a:lnSpc>
                <a:spcPts val="2940"/>
              </a:lnSpc>
            </a:pPr>
            <a:r>
              <a:rPr lang="en-US" sz="2100" b="1" spc="315" dirty="0">
                <a:solidFill>
                  <a:srgbClr val="002B58"/>
                </a:solidFill>
                <a:latin typeface="Montserrat Bold"/>
                <a:ea typeface="Montserrat Bold"/>
                <a:cs typeface="Montserrat Bold"/>
                <a:sym typeface="Montserrat Bold"/>
              </a:rPr>
              <a:t>INNOHACK ID:  INOHAC26000264</a:t>
            </a:r>
          </a:p>
          <a:p>
            <a:pPr algn="ctr">
              <a:lnSpc>
                <a:spcPts val="2940"/>
              </a:lnSpc>
            </a:pPr>
            <a:r>
              <a:rPr lang="en-US" sz="2100" b="1" spc="315" dirty="0">
                <a:solidFill>
                  <a:srgbClr val="002B58"/>
                </a:solidFill>
                <a:latin typeface="Montserrat Bold"/>
                <a:ea typeface="Montserrat Bold"/>
                <a:cs typeface="Montserrat Bold"/>
                <a:sym typeface="Montserrat Bold"/>
              </a:rPr>
              <a:t>HACK ID: DR28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225F7D-CC95-9622-7287-E0CA9535F89C}"/>
              </a:ext>
            </a:extLst>
          </p:cNvPr>
          <p:cNvSpPr txBox="1"/>
          <p:nvPr/>
        </p:nvSpPr>
        <p:spPr>
          <a:xfrm>
            <a:off x="1138084" y="1028700"/>
            <a:ext cx="8844116" cy="6460743"/>
          </a:xfrm>
          <a:prstGeom prst="rect">
            <a:avLst/>
          </a:prstGeom>
          <a:noFill/>
        </p:spPr>
        <p:txBody>
          <a:bodyPr wrap="square">
            <a:spAutoFit/>
          </a:bodyPr>
          <a:lstStyle/>
          <a:p>
            <a:pPr>
              <a:lnSpc>
                <a:spcPts val="9975"/>
              </a:lnSpc>
              <a:buNone/>
            </a:pPr>
            <a:r>
              <a:rPr lang="en-US" sz="7200" b="1" dirty="0">
                <a:solidFill>
                  <a:srgbClr val="002B58"/>
                </a:solidFill>
                <a:latin typeface="Monda Bold"/>
              </a:rPr>
              <a:t>AQUA-SENTINEL:</a:t>
            </a:r>
          </a:p>
          <a:p>
            <a:pPr>
              <a:lnSpc>
                <a:spcPts val="9975"/>
              </a:lnSpc>
              <a:buNone/>
            </a:pPr>
            <a:r>
              <a:rPr lang="en-US" sz="7200" b="1" dirty="0">
                <a:solidFill>
                  <a:srgbClr val="002B58"/>
                </a:solidFill>
                <a:latin typeface="Monda Bold"/>
              </a:rPr>
              <a:t>An Adaptive Autonomous Water Surface Cleaning Robot</a:t>
            </a:r>
          </a:p>
        </p:txBody>
      </p:sp>
      <p:pic>
        <p:nvPicPr>
          <p:cNvPr id="16" name="Picture 15">
            <a:extLst>
              <a:ext uri="{FF2B5EF4-FFF2-40B4-BE49-F238E27FC236}">
                <a16:creationId xmlns:a16="http://schemas.microsoft.com/office/drawing/2014/main" id="{5FB43C46-BC08-ED39-EDAF-5DBEEA42B7CE}"/>
              </a:ext>
            </a:extLst>
          </p:cNvPr>
          <p:cNvPicPr>
            <a:picLocks noChangeAspect="1"/>
          </p:cNvPicPr>
          <p:nvPr/>
        </p:nvPicPr>
        <p:blipFill>
          <a:blip r:embed="rId2"/>
          <a:stretch>
            <a:fillRect/>
          </a:stretch>
        </p:blipFill>
        <p:spPr>
          <a:xfrm>
            <a:off x="9829800" y="762000"/>
            <a:ext cx="8001000" cy="9258300"/>
          </a:xfrm>
          <a:prstGeom prst="rect">
            <a:avLst/>
          </a:prstGeom>
        </p:spPr>
      </p:pic>
      <p:sp>
        <p:nvSpPr>
          <p:cNvPr id="18" name="TextBox 17">
            <a:extLst>
              <a:ext uri="{FF2B5EF4-FFF2-40B4-BE49-F238E27FC236}">
                <a16:creationId xmlns:a16="http://schemas.microsoft.com/office/drawing/2014/main" id="{DA6FD25F-4311-3642-77AC-234AE9EC6B35}"/>
              </a:ext>
            </a:extLst>
          </p:cNvPr>
          <p:cNvSpPr txBox="1"/>
          <p:nvPr/>
        </p:nvSpPr>
        <p:spPr>
          <a:xfrm>
            <a:off x="1219200" y="7720501"/>
            <a:ext cx="9144000" cy="1025345"/>
          </a:xfrm>
          <a:prstGeom prst="rect">
            <a:avLst/>
          </a:prstGeom>
          <a:noFill/>
        </p:spPr>
        <p:txBody>
          <a:bodyPr wrap="square">
            <a:spAutoFit/>
          </a:bodyPr>
          <a:lstStyle/>
          <a:p>
            <a:pPr>
              <a:lnSpc>
                <a:spcPts val="3600"/>
              </a:lnSpc>
              <a:buNone/>
            </a:pPr>
            <a:r>
              <a:rPr lang="en-US" sz="3253" dirty="0">
                <a:solidFill>
                  <a:srgbClr val="002B58"/>
                </a:solidFill>
                <a:latin typeface="Monda"/>
              </a:rPr>
              <a:t>Problem Code: PS26</a:t>
            </a:r>
          </a:p>
          <a:p>
            <a:pPr>
              <a:lnSpc>
                <a:spcPts val="3600"/>
              </a:lnSpc>
              <a:buNone/>
            </a:pPr>
            <a:r>
              <a:rPr lang="en-US" sz="3253" dirty="0">
                <a:solidFill>
                  <a:srgbClr val="002B58"/>
                </a:solidFill>
                <a:latin typeface="Monda"/>
              </a:rPr>
              <a:t>Track: </a:t>
            </a:r>
            <a:r>
              <a:rPr lang="en-US" sz="3253" dirty="0" err="1">
                <a:solidFill>
                  <a:srgbClr val="002B58"/>
                </a:solidFill>
                <a:latin typeface="Monda"/>
              </a:rPr>
              <a:t>CleanTech</a:t>
            </a:r>
            <a:r>
              <a:rPr lang="en-US" sz="3253" dirty="0">
                <a:solidFill>
                  <a:srgbClr val="002B58"/>
                </a:solidFill>
                <a:latin typeface="Monda"/>
              </a:rPr>
              <a:t> / Sustainability</a:t>
            </a:r>
          </a:p>
        </p:txBody>
      </p:sp>
    </p:spTree>
    <p:extLst>
      <p:ext uri="{BB962C8B-B14F-4D97-AF65-F5344CB8AC3E}">
        <p14:creationId xmlns:p14="http://schemas.microsoft.com/office/powerpoint/2010/main" val="363334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10273278" y="5039691"/>
            <a:ext cx="8014722" cy="5247309"/>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2">
              <a:extLst>
                <a:ext uri="{96DAC541-7B7A-43D3-8B79-37D633B846F1}">
                  <asvg:svgBlip xmlns:asvg="http://schemas.microsoft.com/office/drawing/2016/SVG/main" r:embed="rId3"/>
                </a:ext>
              </a:extLst>
            </a:blip>
            <a:stretch>
              <a:fillRect l="-15976" b="-13371"/>
            </a:stretch>
          </a:blipFill>
        </p:spPr>
      </p:sp>
      <p:sp>
        <p:nvSpPr>
          <p:cNvPr id="6" name="TextBox 6"/>
          <p:cNvSpPr txBox="1"/>
          <p:nvPr/>
        </p:nvSpPr>
        <p:spPr>
          <a:xfrm>
            <a:off x="612570" y="2944795"/>
            <a:ext cx="15313230" cy="6663940"/>
          </a:xfrm>
          <a:prstGeom prst="rect">
            <a:avLst/>
          </a:prstGeom>
        </p:spPr>
        <p:txBody>
          <a:bodyPr wrap="square" lIns="0" tIns="0" rIns="0" bIns="0" rtlCol="0" anchor="t">
            <a:spAutoFit/>
          </a:bodyPr>
          <a:lstStyle/>
          <a:p>
            <a:pPr algn="l">
              <a:lnSpc>
                <a:spcPts val="4555"/>
              </a:lnSpc>
            </a:pPr>
            <a:r>
              <a:rPr lang="en-US" sz="3253" dirty="0">
                <a:solidFill>
                  <a:srgbClr val="002B58"/>
                </a:solidFill>
                <a:latin typeface="Monda"/>
              </a:rPr>
              <a:t>Problem Explanation:</a:t>
            </a:r>
          </a:p>
          <a:p>
            <a:r>
              <a:rPr lang="en-US" sz="3253" dirty="0">
                <a:solidFill>
                  <a:srgbClr val="002B58"/>
                </a:solidFill>
                <a:latin typeface="Monda"/>
              </a:rPr>
              <a:t>Floating waste and surface-level pollutants in lakes, rivers, and reservoirs pose severe environmental and public health risks. Existing manual and semi-automated solutions are labor-intensive, unsafe, and non-data-driven.</a:t>
            </a:r>
          </a:p>
          <a:p>
            <a:endParaRPr lang="en-US" sz="3253" dirty="0">
              <a:solidFill>
                <a:srgbClr val="002B58"/>
              </a:solidFill>
              <a:latin typeface="Monda"/>
            </a:endParaRPr>
          </a:p>
          <a:p>
            <a:r>
              <a:rPr lang="en-US" sz="3253" dirty="0">
                <a:solidFill>
                  <a:srgbClr val="002B58"/>
                </a:solidFill>
                <a:latin typeface="Monda"/>
              </a:rPr>
              <a:t>The Gap:</a:t>
            </a:r>
          </a:p>
          <a:p>
            <a:r>
              <a:rPr lang="en-US" sz="3253" dirty="0">
                <a:solidFill>
                  <a:srgbClr val="002B58"/>
                </a:solidFill>
                <a:latin typeface="Monda"/>
              </a:rPr>
              <a:t>No adaptive cleaning strategy</a:t>
            </a:r>
          </a:p>
          <a:p>
            <a:r>
              <a:rPr lang="en-US" sz="3253" dirty="0">
                <a:solidFill>
                  <a:srgbClr val="002B58"/>
                </a:solidFill>
                <a:latin typeface="Monda"/>
              </a:rPr>
              <a:t>No real-time waste density intelligence</a:t>
            </a:r>
          </a:p>
          <a:p>
            <a:r>
              <a:rPr lang="en-US" sz="3253" dirty="0">
                <a:solidFill>
                  <a:srgbClr val="002B58"/>
                </a:solidFill>
                <a:latin typeface="Monda"/>
              </a:rPr>
              <a:t>No pollution data logging for authorities</a:t>
            </a:r>
          </a:p>
          <a:p>
            <a:r>
              <a:rPr lang="en-US" sz="3253" dirty="0">
                <a:solidFill>
                  <a:srgbClr val="002B58"/>
                </a:solidFill>
                <a:latin typeface="Monda"/>
              </a:rPr>
              <a:t>Poor coverage efficiency</a:t>
            </a:r>
          </a:p>
          <a:p>
            <a:r>
              <a:rPr lang="en-US" sz="3253" dirty="0">
                <a:solidFill>
                  <a:srgbClr val="002B58"/>
                </a:solidFill>
                <a:latin typeface="Monda"/>
              </a:rPr>
              <a:t>Existing solutions clean blindly.</a:t>
            </a:r>
          </a:p>
          <a:p>
            <a:r>
              <a:rPr lang="en-US" sz="3253" dirty="0">
                <a:solidFill>
                  <a:srgbClr val="002B58"/>
                </a:solidFill>
                <a:latin typeface="Monda"/>
              </a:rPr>
              <a:t>They do not think.</a:t>
            </a:r>
          </a:p>
          <a:p>
            <a:pPr algn="l">
              <a:lnSpc>
                <a:spcPts val="4555"/>
              </a:lnSpc>
            </a:pPr>
            <a:endParaRPr lang="en-US" sz="3253" dirty="0">
              <a:solidFill>
                <a:srgbClr val="002B58"/>
              </a:solidFill>
              <a:latin typeface="Monda"/>
              <a:ea typeface="Monda"/>
              <a:cs typeface="Monda"/>
              <a:sym typeface="Monda"/>
            </a:endParaRPr>
          </a:p>
        </p:txBody>
      </p:sp>
      <p:sp>
        <p:nvSpPr>
          <p:cNvPr id="7" name="TextBox 7"/>
          <p:cNvSpPr txBox="1"/>
          <p:nvPr/>
        </p:nvSpPr>
        <p:spPr>
          <a:xfrm>
            <a:off x="556465" y="50215"/>
            <a:ext cx="17708089" cy="2464136"/>
          </a:xfrm>
          <a:prstGeom prst="rect">
            <a:avLst/>
          </a:prstGeom>
        </p:spPr>
        <p:txBody>
          <a:bodyPr wrap="square" lIns="0" tIns="0" rIns="0" bIns="0" rtlCol="0" anchor="t">
            <a:spAutoFit/>
          </a:bodyPr>
          <a:lstStyle/>
          <a:p>
            <a:pPr>
              <a:lnSpc>
                <a:spcPts val="10500"/>
              </a:lnSpc>
            </a:pPr>
            <a:r>
              <a:rPr lang="en-US" sz="3200" b="1" dirty="0">
                <a:solidFill>
                  <a:srgbClr val="002B58"/>
                </a:solidFill>
                <a:latin typeface="Monda Bold"/>
                <a:ea typeface="Monda Bold"/>
                <a:cs typeface="Monda Bold"/>
                <a:sym typeface="Monda Bold"/>
              </a:rPr>
              <a:t>PROBLEM STATEMENT TITLE: </a:t>
            </a:r>
            <a:r>
              <a:rPr lang="en-US" sz="3200" b="1" dirty="0">
                <a:solidFill>
                  <a:srgbClr val="002B58"/>
                </a:solidFill>
                <a:latin typeface="Monda Bold"/>
              </a:rPr>
              <a:t>An Adaptive Autonomous Water Surface Cleaning Robot</a:t>
            </a:r>
          </a:p>
          <a:p>
            <a:pPr algn="l">
              <a:lnSpc>
                <a:spcPts val="10500"/>
              </a:lnSpc>
            </a:pPr>
            <a:endParaRPr lang="en-US" sz="3200" b="1" dirty="0">
              <a:solidFill>
                <a:srgbClr val="002B58"/>
              </a:solidFill>
              <a:latin typeface="Monda Bold"/>
              <a:ea typeface="Monda Bold"/>
              <a:cs typeface="Monda Bold"/>
              <a:sym typeface="Monda Bold"/>
            </a:endParaRPr>
          </a:p>
        </p:txBody>
      </p:sp>
      <p:sp>
        <p:nvSpPr>
          <p:cNvPr id="8" name="TextBox 8"/>
          <p:cNvSpPr txBox="1"/>
          <p:nvPr/>
        </p:nvSpPr>
        <p:spPr>
          <a:xfrm>
            <a:off x="612570" y="1750618"/>
            <a:ext cx="11764408" cy="864660"/>
          </a:xfrm>
          <a:prstGeom prst="rect">
            <a:avLst/>
          </a:prstGeom>
        </p:spPr>
        <p:txBody>
          <a:bodyPr lIns="0" tIns="0" rIns="0" bIns="0" rtlCol="0" anchor="t">
            <a:spAutoFit/>
          </a:bodyPr>
          <a:lstStyle/>
          <a:p>
            <a:pPr algn="l">
              <a:lnSpc>
                <a:spcPts val="3499"/>
              </a:lnSpc>
            </a:pPr>
            <a:r>
              <a:rPr lang="en-US" sz="2499" b="1" spc="374" dirty="0">
                <a:solidFill>
                  <a:srgbClr val="002B58"/>
                </a:solidFill>
                <a:latin typeface="Montserrat Bold"/>
                <a:ea typeface="Montserrat Bold"/>
                <a:cs typeface="Montserrat Bold"/>
                <a:sym typeface="Montserrat Bold"/>
              </a:rPr>
              <a:t>PROBLEM STATEMENT CODE: PS26</a:t>
            </a:r>
          </a:p>
          <a:p>
            <a:pPr algn="l">
              <a:lnSpc>
                <a:spcPts val="3499"/>
              </a:lnSpc>
            </a:pPr>
            <a:r>
              <a:rPr lang="en-US" sz="2499" b="1" spc="374" dirty="0">
                <a:solidFill>
                  <a:srgbClr val="002B58"/>
                </a:solidFill>
                <a:latin typeface="Montserrat Bold"/>
                <a:ea typeface="Montserrat Bold"/>
                <a:cs typeface="Montserrat Bold"/>
                <a:sym typeface="Montserrat Bold"/>
              </a:rPr>
              <a:t>TRACK: Drones &amp; Robotics</a:t>
            </a:r>
          </a:p>
        </p:txBody>
      </p:sp>
      <p:sp>
        <p:nvSpPr>
          <p:cNvPr id="4" name="TextBox 3">
            <a:extLst>
              <a:ext uri="{FF2B5EF4-FFF2-40B4-BE49-F238E27FC236}">
                <a16:creationId xmlns:a16="http://schemas.microsoft.com/office/drawing/2014/main" id="{D5B4DA08-80A1-1F30-0991-F4BC72BC5EB6}"/>
              </a:ext>
            </a:extLst>
          </p:cNvPr>
          <p:cNvSpPr txBox="1"/>
          <p:nvPr/>
        </p:nvSpPr>
        <p:spPr>
          <a:xfrm>
            <a:off x="9168581" y="6029115"/>
            <a:ext cx="5919019" cy="3069302"/>
          </a:xfrm>
          <a:prstGeom prst="rect">
            <a:avLst/>
          </a:prstGeom>
          <a:noFill/>
        </p:spPr>
        <p:txBody>
          <a:bodyPr wrap="square">
            <a:spAutoFit/>
          </a:bodyPr>
          <a:lstStyle/>
          <a:p>
            <a:pPr>
              <a:lnSpc>
                <a:spcPts val="3825"/>
              </a:lnSpc>
              <a:buNone/>
            </a:pPr>
            <a:r>
              <a:rPr lang="en-US" sz="3253" dirty="0">
                <a:solidFill>
                  <a:srgbClr val="002B58"/>
                </a:solidFill>
                <a:latin typeface="Monda"/>
              </a:rPr>
              <a:t>Current cleaning methods are:</a:t>
            </a:r>
          </a:p>
          <a:p>
            <a:pPr>
              <a:buFont typeface="Arial" panose="020B0604020202020204" pitchFamily="34" charset="0"/>
              <a:buChar char="•"/>
            </a:pPr>
            <a:r>
              <a:rPr lang="en-US" sz="3253" dirty="0">
                <a:solidFill>
                  <a:srgbClr val="002B58"/>
                </a:solidFill>
                <a:latin typeface="Monda"/>
              </a:rPr>
              <a:t>Manual and labor-intensive</a:t>
            </a:r>
          </a:p>
          <a:p>
            <a:pPr>
              <a:buFont typeface="Arial" panose="020B0604020202020204" pitchFamily="34" charset="0"/>
              <a:buChar char="•"/>
            </a:pPr>
            <a:r>
              <a:rPr lang="en-US" sz="3253" dirty="0">
                <a:solidFill>
                  <a:srgbClr val="002B58"/>
                </a:solidFill>
                <a:latin typeface="Monda"/>
              </a:rPr>
              <a:t>Unsafe for workers</a:t>
            </a:r>
          </a:p>
          <a:p>
            <a:pPr>
              <a:buFont typeface="Arial" panose="020B0604020202020204" pitchFamily="34" charset="0"/>
              <a:buChar char="•"/>
            </a:pPr>
            <a:r>
              <a:rPr lang="en-US" sz="3253" dirty="0">
                <a:solidFill>
                  <a:srgbClr val="002B58"/>
                </a:solidFill>
                <a:latin typeface="Monda"/>
              </a:rPr>
              <a:t>Inefficient for continuous operation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txBody>
          <a:bodyPr/>
          <a:lstStyle/>
          <a:p>
            <a:endParaRPr lang="en-IN" dirty="0"/>
          </a:p>
        </p:txBody>
      </p:sp>
      <p:sp>
        <p:nvSpPr>
          <p:cNvPr id="3" name="Freeform 3"/>
          <p:cNvSpPr/>
          <p:nvPr/>
        </p:nvSpPr>
        <p:spPr>
          <a:xfrm flipH="1">
            <a:off x="10273278" y="5039691"/>
            <a:ext cx="8014722" cy="5247309"/>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15976" b="-13371"/>
            </a:stretch>
          </a:blipFill>
        </p:spPr>
      </p:sp>
      <p:sp>
        <p:nvSpPr>
          <p:cNvPr id="6" name="TextBox 6"/>
          <p:cNvSpPr txBox="1"/>
          <p:nvPr/>
        </p:nvSpPr>
        <p:spPr>
          <a:xfrm>
            <a:off x="601046" y="266884"/>
            <a:ext cx="16658254" cy="2786762"/>
          </a:xfrm>
          <a:prstGeom prst="rect">
            <a:avLst/>
          </a:prstGeom>
        </p:spPr>
        <p:txBody>
          <a:bodyPr lIns="0" tIns="0" rIns="0" bIns="0" rtlCol="0" anchor="t">
            <a:spAutoFit/>
          </a:bodyPr>
          <a:lstStyle/>
          <a:p>
            <a:pPr algn="l">
              <a:lnSpc>
                <a:spcPts val="11248"/>
              </a:lnSpc>
            </a:pPr>
            <a:r>
              <a:rPr lang="en-US" sz="8034" b="1" dirty="0">
                <a:solidFill>
                  <a:srgbClr val="002B58"/>
                </a:solidFill>
                <a:latin typeface="Monda Bold"/>
                <a:ea typeface="Monda Bold"/>
                <a:cs typeface="Monda Bold"/>
                <a:sym typeface="Monda Bold"/>
              </a:rPr>
              <a:t>PROPOSED SOLUTION &amp; WORKING</a:t>
            </a:r>
          </a:p>
        </p:txBody>
      </p:sp>
      <p:sp>
        <p:nvSpPr>
          <p:cNvPr id="7" name="Freeform 7"/>
          <p:cNvSpPr/>
          <p:nvPr/>
        </p:nvSpPr>
        <p:spPr>
          <a:xfrm>
            <a:off x="335364" y="3320530"/>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315677" y="3320530"/>
            <a:ext cx="15781954" cy="6064994"/>
          </a:xfrm>
          <a:prstGeom prst="rect">
            <a:avLst/>
          </a:prstGeom>
        </p:spPr>
        <p:txBody>
          <a:bodyPr wrap="square" lIns="0" tIns="0" rIns="0" bIns="0" rtlCol="0" anchor="t">
            <a:spAutoFit/>
          </a:bodyPr>
          <a:lstStyle/>
          <a:p>
            <a:r>
              <a:rPr lang="en-US" sz="3253" dirty="0">
                <a:solidFill>
                  <a:srgbClr val="002B58"/>
                </a:solidFill>
                <a:latin typeface="Monda"/>
              </a:rPr>
              <a:t>“A software-driven autonomous water surface cleaning robot that dynamically adapts its navigation and collection strategy based on real-time waste density, while generating actionable pollution data.”</a:t>
            </a:r>
          </a:p>
          <a:p>
            <a:endParaRPr lang="en-US" sz="2400" dirty="0">
              <a:solidFill>
                <a:srgbClr val="002B58"/>
              </a:solidFill>
              <a:latin typeface="Monda"/>
            </a:endParaRPr>
          </a:p>
          <a:p>
            <a:pPr marL="342900" indent="-342900">
              <a:buFont typeface="Arial" panose="020B0604020202020204" pitchFamily="34" charset="0"/>
              <a:buChar char="•"/>
            </a:pPr>
            <a:r>
              <a:rPr lang="en-IN" sz="2400" dirty="0">
                <a:solidFill>
                  <a:srgbClr val="002B58"/>
                </a:solidFill>
                <a:latin typeface="Monda"/>
              </a:rPr>
              <a:t>Solar-Powered Energy System: A top-mounted solar panel provides auxiliary power and charges the battery, increasing operational duration sustainably.</a:t>
            </a:r>
          </a:p>
          <a:p>
            <a:pPr marL="342900" indent="-342900">
              <a:buFont typeface="Arial" panose="020B0604020202020204" pitchFamily="34" charset="0"/>
              <a:buChar char="•"/>
            </a:pPr>
            <a:r>
              <a:rPr lang="en-IN" sz="2400" dirty="0">
                <a:solidFill>
                  <a:srgbClr val="002B58"/>
                </a:solidFill>
                <a:latin typeface="Monda"/>
              </a:rPr>
              <a:t>GPS-Based Navigation: Allows controlled movement, zone-wise cleaning, and geo-tagged pollution mapping.</a:t>
            </a:r>
          </a:p>
          <a:p>
            <a:pPr marL="342900" indent="-342900">
              <a:buFont typeface="Arial" panose="020B0604020202020204" pitchFamily="34" charset="0"/>
              <a:buChar char="•"/>
            </a:pPr>
            <a:r>
              <a:rPr lang="en-IN" sz="2400" dirty="0">
                <a:solidFill>
                  <a:srgbClr val="002B58"/>
                </a:solidFill>
                <a:latin typeface="Monda"/>
              </a:rPr>
              <a:t>Camera-Based Waste Detection: A mounted camera identifies floating debris and helps estimate waste density for pollution analysis.</a:t>
            </a:r>
          </a:p>
          <a:p>
            <a:pPr marL="342900" indent="-342900">
              <a:buFont typeface="Arial" panose="020B0604020202020204" pitchFamily="34" charset="0"/>
              <a:buChar char="•"/>
            </a:pPr>
            <a:r>
              <a:rPr lang="en-IN" sz="2400" dirty="0">
                <a:solidFill>
                  <a:srgbClr val="002B58"/>
                </a:solidFill>
                <a:latin typeface="Monda"/>
              </a:rPr>
              <a:t>Waste Density &amp; Pollution Data Generation: Sensor and vision data are processed to quantify surface pollution levels.</a:t>
            </a:r>
          </a:p>
          <a:p>
            <a:pPr marL="342900" indent="-342900">
              <a:buFont typeface="Arial" panose="020B0604020202020204" pitchFamily="34" charset="0"/>
              <a:buChar char="•"/>
            </a:pPr>
            <a:r>
              <a:rPr lang="en-IN" sz="2400" dirty="0">
                <a:solidFill>
                  <a:srgbClr val="002B58"/>
                </a:solidFill>
                <a:latin typeface="Monda"/>
              </a:rPr>
              <a:t>Twin Thruster Propulsion: Ensures stable movement and precise steering.</a:t>
            </a:r>
          </a:p>
          <a:p>
            <a:pPr marL="342900" indent="-342900">
              <a:buFont typeface="Arial" panose="020B0604020202020204" pitchFamily="34" charset="0"/>
              <a:buChar char="•"/>
            </a:pPr>
            <a:r>
              <a:rPr lang="en-IN" sz="2400" dirty="0">
                <a:solidFill>
                  <a:srgbClr val="002B58"/>
                </a:solidFill>
                <a:latin typeface="Monda"/>
              </a:rPr>
              <a:t>IoT Monitoring: Transmits waste density, GPS location, and system status to a remote dashboard.</a:t>
            </a:r>
          </a:p>
          <a:p>
            <a:endParaRPr lang="en-US" sz="3253" dirty="0">
              <a:solidFill>
                <a:srgbClr val="002B58"/>
              </a:solidFill>
              <a:latin typeface="Monda"/>
              <a:ea typeface="Monda"/>
              <a:cs typeface="Monda"/>
              <a:sym typeface="Mond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585FA-BAA0-DD4F-8162-AA45A3B5F8EA}"/>
            </a:ext>
          </a:extLst>
        </p:cNvPr>
        <p:cNvGrpSpPr/>
        <p:nvPr/>
      </p:nvGrpSpPr>
      <p:grpSpPr>
        <a:xfrm>
          <a:off x="0" y="0"/>
          <a:ext cx="0" cy="0"/>
          <a:chOff x="0" y="0"/>
          <a:chExt cx="0" cy="0"/>
        </a:xfrm>
      </p:grpSpPr>
      <p:sp>
        <p:nvSpPr>
          <p:cNvPr id="4" name="Freeform 2">
            <a:extLst>
              <a:ext uri="{FF2B5EF4-FFF2-40B4-BE49-F238E27FC236}">
                <a16:creationId xmlns:a16="http://schemas.microsoft.com/office/drawing/2014/main" id="{2D7371D3-49EF-A8F4-083A-01D76BD6E80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txBody>
          <a:bodyPr/>
          <a:lstStyle/>
          <a:p>
            <a:endParaRPr lang="en-IN" dirty="0"/>
          </a:p>
        </p:txBody>
      </p:sp>
      <p:sp>
        <p:nvSpPr>
          <p:cNvPr id="3" name="Freeform 3">
            <a:extLst>
              <a:ext uri="{FF2B5EF4-FFF2-40B4-BE49-F238E27FC236}">
                <a16:creationId xmlns:a16="http://schemas.microsoft.com/office/drawing/2014/main" id="{0141604B-8960-5ABF-FF13-31E2FB47F0A6}"/>
              </a:ext>
            </a:extLst>
          </p:cNvPr>
          <p:cNvSpPr/>
          <p:nvPr/>
        </p:nvSpPr>
        <p:spPr>
          <a:xfrm flipH="1">
            <a:off x="10273278" y="5039691"/>
            <a:ext cx="8014722" cy="5247309"/>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15976" b="-13371"/>
            </a:stretch>
          </a:blipFill>
        </p:spPr>
      </p:sp>
      <p:sp>
        <p:nvSpPr>
          <p:cNvPr id="6" name="TextBox 6">
            <a:extLst>
              <a:ext uri="{FF2B5EF4-FFF2-40B4-BE49-F238E27FC236}">
                <a16:creationId xmlns:a16="http://schemas.microsoft.com/office/drawing/2014/main" id="{F18FA72D-2819-5C54-8774-24482CCAD001}"/>
              </a:ext>
            </a:extLst>
          </p:cNvPr>
          <p:cNvSpPr txBox="1"/>
          <p:nvPr/>
        </p:nvSpPr>
        <p:spPr>
          <a:xfrm>
            <a:off x="601046" y="266884"/>
            <a:ext cx="16658254" cy="2786762"/>
          </a:xfrm>
          <a:prstGeom prst="rect">
            <a:avLst/>
          </a:prstGeom>
        </p:spPr>
        <p:txBody>
          <a:bodyPr lIns="0" tIns="0" rIns="0" bIns="0" rtlCol="0" anchor="t">
            <a:spAutoFit/>
          </a:bodyPr>
          <a:lstStyle/>
          <a:p>
            <a:pPr algn="l">
              <a:lnSpc>
                <a:spcPts val="11248"/>
              </a:lnSpc>
            </a:pPr>
            <a:r>
              <a:rPr lang="en-US" sz="8034" b="1">
                <a:solidFill>
                  <a:srgbClr val="002B58"/>
                </a:solidFill>
                <a:latin typeface="Monda Bold"/>
                <a:ea typeface="Monda Bold"/>
                <a:cs typeface="Monda Bold"/>
                <a:sym typeface="Monda Bold"/>
              </a:rPr>
              <a:t>PROPOSED SOLUTION &amp; WORKING</a:t>
            </a:r>
          </a:p>
        </p:txBody>
      </p:sp>
      <p:sp>
        <p:nvSpPr>
          <p:cNvPr id="7" name="Freeform 7">
            <a:extLst>
              <a:ext uri="{FF2B5EF4-FFF2-40B4-BE49-F238E27FC236}">
                <a16:creationId xmlns:a16="http://schemas.microsoft.com/office/drawing/2014/main" id="{E5C74A9A-B4A6-088F-45F5-9C20ECA62928}"/>
              </a:ext>
            </a:extLst>
          </p:cNvPr>
          <p:cNvSpPr/>
          <p:nvPr/>
        </p:nvSpPr>
        <p:spPr>
          <a:xfrm>
            <a:off x="601046" y="3719022"/>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a:extLst>
              <a:ext uri="{FF2B5EF4-FFF2-40B4-BE49-F238E27FC236}">
                <a16:creationId xmlns:a16="http://schemas.microsoft.com/office/drawing/2014/main" id="{540EAA7B-5BC8-3C56-E125-3894D77A6FDB}"/>
              </a:ext>
            </a:extLst>
          </p:cNvPr>
          <p:cNvSpPr txBox="1"/>
          <p:nvPr/>
        </p:nvSpPr>
        <p:spPr>
          <a:xfrm>
            <a:off x="1752600" y="3421307"/>
            <a:ext cx="14554200" cy="7056547"/>
          </a:xfrm>
          <a:prstGeom prst="rect">
            <a:avLst/>
          </a:prstGeom>
        </p:spPr>
        <p:txBody>
          <a:bodyPr wrap="square" lIns="0" tIns="0" rIns="0" bIns="0" rtlCol="0" anchor="t">
            <a:spAutoFit/>
          </a:bodyPr>
          <a:lstStyle/>
          <a:p>
            <a:pPr>
              <a:lnSpc>
                <a:spcPts val="4555"/>
              </a:lnSpc>
            </a:pPr>
            <a:r>
              <a:rPr lang="en-US" sz="3253" dirty="0">
                <a:solidFill>
                  <a:srgbClr val="002B58"/>
                </a:solidFill>
                <a:latin typeface="Monda"/>
              </a:rPr>
              <a:t>SYSTEM WORKING (TECHNICAL FLOW)</a:t>
            </a:r>
          </a:p>
          <a:p>
            <a:pPr marL="457200" indent="-457200">
              <a:lnSpc>
                <a:spcPts val="4555"/>
              </a:lnSpc>
              <a:buFont typeface="Arial" panose="020B0604020202020204" pitchFamily="34" charset="0"/>
              <a:buChar char="•"/>
            </a:pPr>
            <a:r>
              <a:rPr lang="en-US" sz="3253" dirty="0">
                <a:solidFill>
                  <a:srgbClr val="002B58"/>
                </a:solidFill>
                <a:latin typeface="Monda"/>
              </a:rPr>
              <a:t>Robot is deployed in a defined water zone</a:t>
            </a:r>
          </a:p>
          <a:p>
            <a:pPr marL="457200" indent="-457200">
              <a:lnSpc>
                <a:spcPts val="4555"/>
              </a:lnSpc>
              <a:buFont typeface="Arial" panose="020B0604020202020204" pitchFamily="34" charset="0"/>
              <a:buChar char="•"/>
            </a:pPr>
            <a:r>
              <a:rPr lang="en-US" sz="3253" dirty="0">
                <a:solidFill>
                  <a:srgbClr val="002B58"/>
                </a:solidFill>
                <a:latin typeface="Monda"/>
              </a:rPr>
              <a:t>Ultrasonic + vision sensors scan surface continuously</a:t>
            </a:r>
          </a:p>
          <a:p>
            <a:pPr marL="457200" indent="-457200">
              <a:lnSpc>
                <a:spcPts val="4555"/>
              </a:lnSpc>
              <a:buFont typeface="Arial" panose="020B0604020202020204" pitchFamily="34" charset="0"/>
              <a:buChar char="•"/>
            </a:pPr>
            <a:r>
              <a:rPr lang="en-US" sz="3253" dirty="0">
                <a:solidFill>
                  <a:srgbClr val="002B58"/>
                </a:solidFill>
                <a:latin typeface="Monda"/>
              </a:rPr>
              <a:t>Waste density is estimated in real time</a:t>
            </a:r>
          </a:p>
          <a:p>
            <a:pPr marL="457200" indent="-457200">
              <a:lnSpc>
                <a:spcPts val="4555"/>
              </a:lnSpc>
              <a:buFont typeface="Arial" panose="020B0604020202020204" pitchFamily="34" charset="0"/>
              <a:buChar char="•"/>
            </a:pPr>
            <a:r>
              <a:rPr lang="en-US" sz="3253" dirty="0">
                <a:solidFill>
                  <a:srgbClr val="002B58"/>
                </a:solidFill>
                <a:latin typeface="Monda"/>
              </a:rPr>
              <a:t>Navigation algorithm prioritizes high-density zones</a:t>
            </a:r>
          </a:p>
          <a:p>
            <a:pPr marL="457200" indent="-457200">
              <a:lnSpc>
                <a:spcPts val="4555"/>
              </a:lnSpc>
              <a:buFont typeface="Arial" panose="020B0604020202020204" pitchFamily="34" charset="0"/>
              <a:buChar char="•"/>
            </a:pPr>
            <a:r>
              <a:rPr lang="en-US" sz="3253" dirty="0">
                <a:solidFill>
                  <a:srgbClr val="002B58"/>
                </a:solidFill>
                <a:latin typeface="Monda"/>
              </a:rPr>
              <a:t>Collection mechanism activates only when required</a:t>
            </a:r>
          </a:p>
          <a:p>
            <a:pPr marL="457200" indent="-457200">
              <a:lnSpc>
                <a:spcPts val="4555"/>
              </a:lnSpc>
              <a:buFont typeface="Arial" panose="020B0604020202020204" pitchFamily="34" charset="0"/>
              <a:buChar char="•"/>
            </a:pPr>
            <a:r>
              <a:rPr lang="en-US" sz="3253" dirty="0">
                <a:solidFill>
                  <a:srgbClr val="002B58"/>
                </a:solidFill>
                <a:latin typeface="Monda"/>
              </a:rPr>
              <a:t>Obstacles and boundaries are avoided autonomously</a:t>
            </a:r>
          </a:p>
          <a:p>
            <a:pPr marL="457200" indent="-457200">
              <a:lnSpc>
                <a:spcPts val="4555"/>
              </a:lnSpc>
              <a:buFont typeface="Arial" panose="020B0604020202020204" pitchFamily="34" charset="0"/>
              <a:buChar char="•"/>
            </a:pPr>
            <a:r>
              <a:rPr lang="en-US" sz="3253" dirty="0">
                <a:solidFill>
                  <a:srgbClr val="002B58"/>
                </a:solidFill>
                <a:latin typeface="Monda"/>
              </a:rPr>
              <a:t>Data is logged and sent to IoT dashboard</a:t>
            </a:r>
          </a:p>
          <a:p>
            <a:pPr>
              <a:lnSpc>
                <a:spcPts val="4555"/>
              </a:lnSpc>
            </a:pPr>
            <a:r>
              <a:rPr lang="en-US" sz="3253" dirty="0">
                <a:solidFill>
                  <a:srgbClr val="002B58"/>
                </a:solidFill>
                <a:latin typeface="Monda"/>
              </a:rPr>
              <a:t>KEY DIFFERENCE:</a:t>
            </a:r>
          </a:p>
          <a:p>
            <a:pPr marL="457200" indent="-457200">
              <a:lnSpc>
                <a:spcPts val="4555"/>
              </a:lnSpc>
              <a:buFont typeface="Arial" panose="020B0604020202020204" pitchFamily="34" charset="0"/>
              <a:buChar char="•"/>
            </a:pPr>
            <a:r>
              <a:rPr lang="en-US" sz="3253" dirty="0">
                <a:solidFill>
                  <a:srgbClr val="002B58"/>
                </a:solidFill>
                <a:latin typeface="Monda"/>
              </a:rPr>
              <a:t>Not random cleaning</a:t>
            </a:r>
            <a:br>
              <a:rPr lang="en-US" sz="3253" dirty="0">
                <a:solidFill>
                  <a:srgbClr val="002B58"/>
                </a:solidFill>
                <a:latin typeface="Monda"/>
              </a:rPr>
            </a:br>
            <a:r>
              <a:rPr lang="en-US" sz="3253" dirty="0">
                <a:solidFill>
                  <a:srgbClr val="002B58"/>
                </a:solidFill>
                <a:latin typeface="Monda"/>
              </a:rPr>
              <a:t>Priority-based adaptive cleaning</a:t>
            </a:r>
          </a:p>
          <a:p>
            <a:pPr algn="l">
              <a:lnSpc>
                <a:spcPts val="4555"/>
              </a:lnSpc>
            </a:pPr>
            <a:endParaRPr lang="en-US" sz="3253" dirty="0">
              <a:solidFill>
                <a:srgbClr val="002B58"/>
              </a:solidFill>
              <a:latin typeface="Monda"/>
              <a:ea typeface="Monda"/>
              <a:cs typeface="Monda"/>
              <a:sym typeface="Monda"/>
            </a:endParaRPr>
          </a:p>
        </p:txBody>
      </p:sp>
    </p:spTree>
    <p:extLst>
      <p:ext uri="{BB962C8B-B14F-4D97-AF65-F5344CB8AC3E}">
        <p14:creationId xmlns:p14="http://schemas.microsoft.com/office/powerpoint/2010/main" val="68211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736074-0D69-3B29-A821-574394BD8897}"/>
              </a:ext>
            </a:extLst>
          </p:cNvPr>
          <p:cNvPicPr>
            <a:picLocks noChangeAspect="1"/>
          </p:cNvPicPr>
          <p:nvPr/>
        </p:nvPicPr>
        <p:blipFill>
          <a:blip r:embed="rId2"/>
          <a:stretch>
            <a:fillRect/>
          </a:stretch>
        </p:blipFill>
        <p:spPr>
          <a:xfrm>
            <a:off x="3487" y="4045"/>
            <a:ext cx="18281026" cy="10278909"/>
          </a:xfrm>
          <a:prstGeom prst="rect">
            <a:avLst/>
          </a:prstGeom>
        </p:spPr>
      </p:pic>
    </p:spTree>
    <p:extLst>
      <p:ext uri="{BB962C8B-B14F-4D97-AF65-F5344CB8AC3E}">
        <p14:creationId xmlns:p14="http://schemas.microsoft.com/office/powerpoint/2010/main" val="880607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F9DC4-FCD4-1627-904E-039B0215BC13}"/>
            </a:ext>
          </a:extLst>
        </p:cNvPr>
        <p:cNvGrpSpPr/>
        <p:nvPr/>
      </p:nvGrpSpPr>
      <p:grpSpPr>
        <a:xfrm>
          <a:off x="0" y="0"/>
          <a:ext cx="0" cy="0"/>
          <a:chOff x="0" y="0"/>
          <a:chExt cx="0" cy="0"/>
        </a:xfrm>
      </p:grpSpPr>
      <p:sp>
        <p:nvSpPr>
          <p:cNvPr id="4" name="Freeform 2">
            <a:extLst>
              <a:ext uri="{FF2B5EF4-FFF2-40B4-BE49-F238E27FC236}">
                <a16:creationId xmlns:a16="http://schemas.microsoft.com/office/drawing/2014/main" id="{8CA11CD7-33C5-0FF8-1620-D46B839B74C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txBody>
          <a:bodyPr/>
          <a:lstStyle/>
          <a:p>
            <a:endParaRPr lang="en-IN" dirty="0"/>
          </a:p>
        </p:txBody>
      </p:sp>
      <p:sp>
        <p:nvSpPr>
          <p:cNvPr id="6" name="TextBox 6">
            <a:extLst>
              <a:ext uri="{FF2B5EF4-FFF2-40B4-BE49-F238E27FC236}">
                <a16:creationId xmlns:a16="http://schemas.microsoft.com/office/drawing/2014/main" id="{ABFBA2A7-0A90-09BC-69FF-6A301791393E}"/>
              </a:ext>
            </a:extLst>
          </p:cNvPr>
          <p:cNvSpPr txBox="1"/>
          <p:nvPr/>
        </p:nvSpPr>
        <p:spPr>
          <a:xfrm>
            <a:off x="601046" y="266884"/>
            <a:ext cx="16658254" cy="1354217"/>
          </a:xfrm>
          <a:prstGeom prst="rect">
            <a:avLst/>
          </a:prstGeom>
        </p:spPr>
        <p:txBody>
          <a:bodyPr lIns="0" tIns="0" rIns="0" bIns="0" rtlCol="0" anchor="t">
            <a:spAutoFit/>
          </a:bodyPr>
          <a:lstStyle/>
          <a:p>
            <a:pPr algn="l">
              <a:lnSpc>
                <a:spcPts val="11248"/>
              </a:lnSpc>
            </a:pPr>
            <a:r>
              <a:rPr lang="en-US" sz="7200" b="1" dirty="0">
                <a:solidFill>
                  <a:srgbClr val="002B58"/>
                </a:solidFill>
                <a:latin typeface="Monda Bold"/>
                <a:ea typeface="Monda Bold"/>
                <a:cs typeface="Monda Bold"/>
                <a:sym typeface="Monda Bold"/>
              </a:rPr>
              <a:t>PROTOTYPE</a:t>
            </a:r>
          </a:p>
        </p:txBody>
      </p:sp>
      <p:sp>
        <p:nvSpPr>
          <p:cNvPr id="7" name="Freeform 7">
            <a:extLst>
              <a:ext uri="{FF2B5EF4-FFF2-40B4-BE49-F238E27FC236}">
                <a16:creationId xmlns:a16="http://schemas.microsoft.com/office/drawing/2014/main" id="{DDE9CC1D-753A-F305-3D8F-71D20AED2F42}"/>
              </a:ext>
            </a:extLst>
          </p:cNvPr>
          <p:cNvSpPr/>
          <p:nvPr/>
        </p:nvSpPr>
        <p:spPr>
          <a:xfrm>
            <a:off x="110889" y="1674771"/>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a:extLst>
              <a:ext uri="{FF2B5EF4-FFF2-40B4-BE49-F238E27FC236}">
                <a16:creationId xmlns:a16="http://schemas.microsoft.com/office/drawing/2014/main" id="{3BFF0DAB-DAC7-CE46-8FC7-D8CFAFC3417F}"/>
              </a:ext>
            </a:extLst>
          </p:cNvPr>
          <p:cNvSpPr txBox="1"/>
          <p:nvPr/>
        </p:nvSpPr>
        <p:spPr>
          <a:xfrm>
            <a:off x="1091203" y="1648394"/>
            <a:ext cx="11557997" cy="8793433"/>
          </a:xfrm>
          <a:prstGeom prst="rect">
            <a:avLst/>
          </a:prstGeom>
        </p:spPr>
        <p:txBody>
          <a:bodyPr wrap="square" lIns="0" tIns="0" rIns="0" bIns="0" rtlCol="0" anchor="t">
            <a:spAutoFit/>
          </a:bodyPr>
          <a:lstStyle/>
          <a:p>
            <a:pPr>
              <a:lnSpc>
                <a:spcPts val="4555"/>
              </a:lnSpc>
            </a:pPr>
            <a:r>
              <a:rPr lang="en-US" sz="2400" dirty="0">
                <a:solidFill>
                  <a:srgbClr val="002B58"/>
                </a:solidFill>
                <a:latin typeface="Monda"/>
              </a:rPr>
              <a:t>The current working model represents a functional implementation of the proposed prototype. It’s built on a lightweight foam-board base and two BO double-shaft DC motors mounted on either side enable propulsion and steering on the water surface through differential speed control. An ESP8266 microcontroller acts as the central control unit, interfaced with an L298N motor driver to control the motors. Power is supplied by lithium-ion batteries and regulated using a DC buck converter to ensure stable operation of all electronic components. A servo motor mounted at the front operates the waste collection gate, allowing collected debris to be stored onboard. An ultrasonic sensor is positioned at the front to enable obstacle detection for autonomous navigation and to collect waste when detected. The prototype demonstrates a low-cost and scalable approach to automated water surface cleaning while retaining the core working principles such as autonomous movement, waste collection, and obstacle sensing. The present model successfully demonstrates the feasibility and operation of the proposed system.</a:t>
            </a:r>
            <a:endParaRPr lang="en-US" sz="2400" dirty="0">
              <a:solidFill>
                <a:srgbClr val="002B58"/>
              </a:solidFill>
              <a:latin typeface="Monda"/>
              <a:sym typeface="Monda"/>
            </a:endParaRPr>
          </a:p>
        </p:txBody>
      </p:sp>
      <p:pic>
        <p:nvPicPr>
          <p:cNvPr id="13" name="Picture 12">
            <a:extLst>
              <a:ext uri="{FF2B5EF4-FFF2-40B4-BE49-F238E27FC236}">
                <a16:creationId xmlns:a16="http://schemas.microsoft.com/office/drawing/2014/main" id="{1B7F7701-5220-F7FE-4529-4605EAD25BA5}"/>
              </a:ext>
            </a:extLst>
          </p:cNvPr>
          <p:cNvPicPr>
            <a:picLocks noChangeAspect="1"/>
          </p:cNvPicPr>
          <p:nvPr/>
        </p:nvPicPr>
        <p:blipFill>
          <a:blip r:embed="rId5"/>
          <a:stretch>
            <a:fillRect/>
          </a:stretch>
        </p:blipFill>
        <p:spPr>
          <a:xfrm>
            <a:off x="12425504" y="1583000"/>
            <a:ext cx="5751607" cy="8284899"/>
          </a:xfrm>
          <a:prstGeom prst="rect">
            <a:avLst/>
          </a:prstGeom>
        </p:spPr>
      </p:pic>
    </p:spTree>
    <p:extLst>
      <p:ext uri="{BB962C8B-B14F-4D97-AF65-F5344CB8AC3E}">
        <p14:creationId xmlns:p14="http://schemas.microsoft.com/office/powerpoint/2010/main" val="1251763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B32AA-A403-F515-B6DF-1B0844174E3B}"/>
            </a:ext>
          </a:extLst>
        </p:cNvPr>
        <p:cNvGrpSpPr/>
        <p:nvPr/>
      </p:nvGrpSpPr>
      <p:grpSpPr>
        <a:xfrm>
          <a:off x="0" y="0"/>
          <a:ext cx="0" cy="0"/>
          <a:chOff x="0" y="0"/>
          <a:chExt cx="0" cy="0"/>
        </a:xfrm>
      </p:grpSpPr>
      <p:sp>
        <p:nvSpPr>
          <p:cNvPr id="4" name="Freeform 2">
            <a:extLst>
              <a:ext uri="{FF2B5EF4-FFF2-40B4-BE49-F238E27FC236}">
                <a16:creationId xmlns:a16="http://schemas.microsoft.com/office/drawing/2014/main" id="{C45F0E99-A8D2-5B0D-3FE0-60135C29469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txBody>
          <a:bodyPr/>
          <a:lstStyle/>
          <a:p>
            <a:endParaRPr lang="en-IN" dirty="0"/>
          </a:p>
        </p:txBody>
      </p:sp>
      <p:sp>
        <p:nvSpPr>
          <p:cNvPr id="3" name="Freeform 3">
            <a:extLst>
              <a:ext uri="{FF2B5EF4-FFF2-40B4-BE49-F238E27FC236}">
                <a16:creationId xmlns:a16="http://schemas.microsoft.com/office/drawing/2014/main" id="{8B246068-5D33-437F-719F-E8D5B637B88D}"/>
              </a:ext>
            </a:extLst>
          </p:cNvPr>
          <p:cNvSpPr/>
          <p:nvPr/>
        </p:nvSpPr>
        <p:spPr>
          <a:xfrm flipH="1">
            <a:off x="10273278" y="5039691"/>
            <a:ext cx="8014722" cy="5247309"/>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15976" b="-13371"/>
            </a:stretch>
          </a:blipFill>
        </p:spPr>
      </p:sp>
      <p:sp>
        <p:nvSpPr>
          <p:cNvPr id="6" name="TextBox 6">
            <a:extLst>
              <a:ext uri="{FF2B5EF4-FFF2-40B4-BE49-F238E27FC236}">
                <a16:creationId xmlns:a16="http://schemas.microsoft.com/office/drawing/2014/main" id="{8A747959-7B3C-2C66-08EF-99B64B8C7A9E}"/>
              </a:ext>
            </a:extLst>
          </p:cNvPr>
          <p:cNvSpPr txBox="1"/>
          <p:nvPr/>
        </p:nvSpPr>
        <p:spPr>
          <a:xfrm>
            <a:off x="601046" y="266884"/>
            <a:ext cx="16658254" cy="1284967"/>
          </a:xfrm>
          <a:prstGeom prst="rect">
            <a:avLst/>
          </a:prstGeom>
        </p:spPr>
        <p:txBody>
          <a:bodyPr lIns="0" tIns="0" rIns="0" bIns="0" rtlCol="0" anchor="t">
            <a:spAutoFit/>
          </a:bodyPr>
          <a:lstStyle/>
          <a:p>
            <a:pPr algn="l">
              <a:lnSpc>
                <a:spcPts val="11248"/>
              </a:lnSpc>
            </a:pPr>
            <a:r>
              <a:rPr lang="en-US" sz="5400" b="1" dirty="0">
                <a:solidFill>
                  <a:srgbClr val="002B58"/>
                </a:solidFill>
                <a:latin typeface="Monda Bold"/>
                <a:ea typeface="Monda Bold"/>
                <a:cs typeface="Monda Bold"/>
                <a:sym typeface="Monda Bold"/>
              </a:rPr>
              <a:t>PROPOSED SOLUTION &amp; WORKING</a:t>
            </a:r>
          </a:p>
        </p:txBody>
      </p:sp>
      <p:sp>
        <p:nvSpPr>
          <p:cNvPr id="7" name="Freeform 7">
            <a:extLst>
              <a:ext uri="{FF2B5EF4-FFF2-40B4-BE49-F238E27FC236}">
                <a16:creationId xmlns:a16="http://schemas.microsoft.com/office/drawing/2014/main" id="{11B90914-F3C6-EF34-0839-6EF961FA922E}"/>
              </a:ext>
            </a:extLst>
          </p:cNvPr>
          <p:cNvSpPr/>
          <p:nvPr/>
        </p:nvSpPr>
        <p:spPr>
          <a:xfrm>
            <a:off x="110889" y="1551851"/>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8" name="Picture 7">
            <a:extLst>
              <a:ext uri="{FF2B5EF4-FFF2-40B4-BE49-F238E27FC236}">
                <a16:creationId xmlns:a16="http://schemas.microsoft.com/office/drawing/2014/main" id="{631CDBBD-FED2-2F0A-381D-ABF24D1A19B2}"/>
              </a:ext>
            </a:extLst>
          </p:cNvPr>
          <p:cNvPicPr>
            <a:picLocks noChangeAspect="1"/>
          </p:cNvPicPr>
          <p:nvPr/>
        </p:nvPicPr>
        <p:blipFill>
          <a:blip r:embed="rId7"/>
          <a:stretch>
            <a:fillRect/>
          </a:stretch>
        </p:blipFill>
        <p:spPr>
          <a:xfrm>
            <a:off x="1593082" y="1551851"/>
            <a:ext cx="8014722" cy="8468265"/>
          </a:xfrm>
          <a:prstGeom prst="rect">
            <a:avLst/>
          </a:prstGeom>
        </p:spPr>
      </p:pic>
    </p:spTree>
    <p:extLst>
      <p:ext uri="{BB962C8B-B14F-4D97-AF65-F5344CB8AC3E}">
        <p14:creationId xmlns:p14="http://schemas.microsoft.com/office/powerpoint/2010/main" val="3054090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sp>
      <p:sp>
        <p:nvSpPr>
          <p:cNvPr id="3" name="Freeform 3"/>
          <p:cNvSpPr/>
          <p:nvPr/>
        </p:nvSpPr>
        <p:spPr>
          <a:xfrm flipH="1">
            <a:off x="10273278" y="5039691"/>
            <a:ext cx="8014722" cy="5247309"/>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16357" t="-926" r="381" b="-12445"/>
            </a:stretch>
          </a:blipFill>
        </p:spPr>
      </p:sp>
      <p:sp>
        <p:nvSpPr>
          <p:cNvPr id="6" name="TextBox 6"/>
          <p:cNvSpPr txBox="1"/>
          <p:nvPr/>
        </p:nvSpPr>
        <p:spPr>
          <a:xfrm>
            <a:off x="601046" y="266884"/>
            <a:ext cx="16658254" cy="1367537"/>
          </a:xfrm>
          <a:prstGeom prst="rect">
            <a:avLst/>
          </a:prstGeom>
        </p:spPr>
        <p:txBody>
          <a:bodyPr lIns="0" tIns="0" rIns="0" bIns="0" rtlCol="0" anchor="t">
            <a:spAutoFit/>
          </a:bodyPr>
          <a:lstStyle/>
          <a:p>
            <a:pPr algn="l">
              <a:lnSpc>
                <a:spcPts val="11248"/>
              </a:lnSpc>
            </a:pPr>
            <a:r>
              <a:rPr lang="en-US" sz="8034" b="1">
                <a:solidFill>
                  <a:srgbClr val="002B58"/>
                </a:solidFill>
                <a:latin typeface="Monda Bold"/>
                <a:ea typeface="Monda Bold"/>
                <a:cs typeface="Monda Bold"/>
                <a:sym typeface="Monda Bold"/>
              </a:rPr>
              <a:t>FEATURES &amp; TECH STACK</a:t>
            </a:r>
          </a:p>
        </p:txBody>
      </p:sp>
      <p:sp>
        <p:nvSpPr>
          <p:cNvPr id="7" name="Freeform 7"/>
          <p:cNvSpPr/>
          <p:nvPr/>
        </p:nvSpPr>
        <p:spPr>
          <a:xfrm>
            <a:off x="601046" y="2525990"/>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581359" y="2468840"/>
            <a:ext cx="14084676" cy="4173707"/>
          </a:xfrm>
          <a:prstGeom prst="rect">
            <a:avLst/>
          </a:prstGeom>
        </p:spPr>
        <p:txBody>
          <a:bodyPr lIns="0" tIns="0" rIns="0" bIns="0" rtlCol="0" anchor="t">
            <a:spAutoFit/>
          </a:bodyPr>
          <a:lstStyle/>
          <a:p>
            <a:r>
              <a:rPr lang="en-IN" sz="2800" dirty="0">
                <a:solidFill>
                  <a:srgbClr val="002B58"/>
                </a:solidFill>
                <a:latin typeface="Monda"/>
              </a:rPr>
              <a:t>KEY FEATURES:</a:t>
            </a:r>
          </a:p>
          <a:p>
            <a:r>
              <a:rPr lang="en-IN" sz="2800" dirty="0">
                <a:solidFill>
                  <a:srgbClr val="002B58"/>
                </a:solidFill>
                <a:latin typeface="Monda"/>
              </a:rPr>
              <a:t>Adaptive navigation based on waste density</a:t>
            </a:r>
          </a:p>
          <a:p>
            <a:r>
              <a:rPr lang="en-IN" sz="2800" dirty="0">
                <a:solidFill>
                  <a:srgbClr val="002B58"/>
                </a:solidFill>
                <a:latin typeface="Monda"/>
              </a:rPr>
              <a:t>Autonomous obstacle avoidance</a:t>
            </a:r>
          </a:p>
          <a:p>
            <a:r>
              <a:rPr lang="en-IN" sz="2800" dirty="0">
                <a:solidFill>
                  <a:srgbClr val="002B58"/>
                </a:solidFill>
                <a:latin typeface="Monda"/>
              </a:rPr>
              <a:t>Modular waste collection mechanism</a:t>
            </a:r>
          </a:p>
          <a:p>
            <a:r>
              <a:rPr lang="en-IN" sz="2800" dirty="0">
                <a:solidFill>
                  <a:srgbClr val="002B58"/>
                </a:solidFill>
                <a:latin typeface="Monda"/>
              </a:rPr>
              <a:t>Real-time data logging</a:t>
            </a:r>
          </a:p>
          <a:p>
            <a:r>
              <a:rPr lang="en-IN" sz="2800" dirty="0">
                <a:solidFill>
                  <a:srgbClr val="002B58"/>
                </a:solidFill>
                <a:latin typeface="Monda"/>
              </a:rPr>
              <a:t>Remote monitoring dashboard</a:t>
            </a:r>
          </a:p>
          <a:p>
            <a:r>
              <a:rPr lang="en-IN" sz="2800" dirty="0">
                <a:solidFill>
                  <a:srgbClr val="002B58"/>
                </a:solidFill>
                <a:latin typeface="Monda"/>
              </a:rPr>
              <a:t>Low-power optimized operation</a:t>
            </a:r>
          </a:p>
          <a:p>
            <a:pPr algn="l">
              <a:lnSpc>
                <a:spcPts val="4555"/>
              </a:lnSpc>
            </a:pPr>
            <a:endParaRPr lang="en-US" sz="3253" dirty="0">
              <a:solidFill>
                <a:srgbClr val="002B58"/>
              </a:solidFill>
              <a:latin typeface="Monda"/>
              <a:ea typeface="Monda"/>
              <a:cs typeface="Monda"/>
              <a:sym typeface="Monda"/>
            </a:endParaRPr>
          </a:p>
          <a:p>
            <a:pPr algn="l">
              <a:lnSpc>
                <a:spcPts val="4555"/>
              </a:lnSpc>
            </a:pPr>
            <a:endParaRPr lang="en-US" sz="3253" dirty="0">
              <a:solidFill>
                <a:srgbClr val="002B58"/>
              </a:solidFill>
              <a:latin typeface="Monda"/>
              <a:ea typeface="Monda"/>
              <a:cs typeface="Monda"/>
              <a:sym typeface="Monda"/>
            </a:endParaRPr>
          </a:p>
        </p:txBody>
      </p:sp>
      <p:sp>
        <p:nvSpPr>
          <p:cNvPr id="9" name="Freeform 9"/>
          <p:cNvSpPr/>
          <p:nvPr/>
        </p:nvSpPr>
        <p:spPr>
          <a:xfrm>
            <a:off x="601046" y="5829795"/>
            <a:ext cx="980313" cy="801406"/>
          </a:xfrm>
          <a:custGeom>
            <a:avLst/>
            <a:gdLst/>
            <a:ahLst/>
            <a:cxnLst/>
            <a:rect l="l" t="t" r="r" b="b"/>
            <a:pathLst>
              <a:path w="980313" h="801406">
                <a:moveTo>
                  <a:pt x="0" y="0"/>
                </a:moveTo>
                <a:lnTo>
                  <a:pt x="980313" y="0"/>
                </a:lnTo>
                <a:lnTo>
                  <a:pt x="980313" y="801406"/>
                </a:lnTo>
                <a:lnTo>
                  <a:pt x="0" y="8014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1748674" y="5772645"/>
            <a:ext cx="16539326" cy="3583802"/>
          </a:xfrm>
          <a:prstGeom prst="rect">
            <a:avLst/>
          </a:prstGeom>
        </p:spPr>
        <p:txBody>
          <a:bodyPr wrap="square" lIns="0" tIns="0" rIns="0" bIns="0" rtlCol="0" anchor="t">
            <a:spAutoFit/>
          </a:bodyPr>
          <a:lstStyle/>
          <a:p>
            <a:r>
              <a:rPr lang="en-IN" sz="2800" dirty="0">
                <a:solidFill>
                  <a:srgbClr val="002B58"/>
                </a:solidFill>
                <a:latin typeface="Monda"/>
              </a:rPr>
              <a:t>TECH STACK:</a:t>
            </a:r>
          </a:p>
          <a:p>
            <a:r>
              <a:rPr lang="en-IN" sz="2800" dirty="0">
                <a:solidFill>
                  <a:srgbClr val="002B58"/>
                </a:solidFill>
                <a:latin typeface="Monda"/>
              </a:rPr>
              <a:t>Hardware:</a:t>
            </a:r>
          </a:p>
          <a:p>
            <a:r>
              <a:rPr lang="en-IN" sz="2800" dirty="0">
                <a:solidFill>
                  <a:srgbClr val="002B58"/>
                </a:solidFill>
                <a:latin typeface="Monda"/>
              </a:rPr>
              <a:t>Arduino / ESP32</a:t>
            </a:r>
          </a:p>
          <a:p>
            <a:r>
              <a:rPr lang="en-IN" sz="2800" dirty="0">
                <a:solidFill>
                  <a:srgbClr val="002B58"/>
                </a:solidFill>
                <a:latin typeface="Monda"/>
              </a:rPr>
              <a:t>Ultrasonic Sensors</a:t>
            </a:r>
          </a:p>
          <a:p>
            <a:r>
              <a:rPr lang="en-IN" sz="2800" dirty="0">
                <a:solidFill>
                  <a:srgbClr val="002B58"/>
                </a:solidFill>
                <a:latin typeface="Monda"/>
              </a:rPr>
              <a:t>DC Motors + Motor Driver</a:t>
            </a:r>
          </a:p>
          <a:p>
            <a:r>
              <a:rPr lang="en-IN" sz="2800" dirty="0">
                <a:solidFill>
                  <a:srgbClr val="002B58"/>
                </a:solidFill>
                <a:latin typeface="Monda"/>
              </a:rPr>
              <a:t>Battery + Power Management</a:t>
            </a:r>
          </a:p>
          <a:p>
            <a:r>
              <a:rPr lang="en-IN" sz="2800" dirty="0">
                <a:solidFill>
                  <a:srgbClr val="002B58"/>
                </a:solidFill>
                <a:latin typeface="Monda"/>
              </a:rPr>
              <a:t>Conveyor / Scoop Mechanism</a:t>
            </a:r>
          </a:p>
          <a:p>
            <a:pPr algn="l">
              <a:lnSpc>
                <a:spcPts val="4555"/>
              </a:lnSpc>
            </a:pPr>
            <a:endParaRPr lang="en-US" sz="3253" dirty="0">
              <a:solidFill>
                <a:srgbClr val="002B58"/>
              </a:solidFill>
              <a:latin typeface="Monda"/>
              <a:ea typeface="Monda"/>
              <a:cs typeface="Monda"/>
              <a:sym typeface="Monda"/>
            </a:endParaRPr>
          </a:p>
        </p:txBody>
      </p:sp>
      <p:sp>
        <p:nvSpPr>
          <p:cNvPr id="4" name="TextBox 10">
            <a:extLst>
              <a:ext uri="{FF2B5EF4-FFF2-40B4-BE49-F238E27FC236}">
                <a16:creationId xmlns:a16="http://schemas.microsoft.com/office/drawing/2014/main" id="{E8AD021F-EC83-FE74-8509-E4377EAD2488}"/>
              </a:ext>
            </a:extLst>
          </p:cNvPr>
          <p:cNvSpPr txBox="1"/>
          <p:nvPr/>
        </p:nvSpPr>
        <p:spPr>
          <a:xfrm>
            <a:off x="7950994" y="5799044"/>
            <a:ext cx="9296400" cy="3152914"/>
          </a:xfrm>
          <a:prstGeom prst="rect">
            <a:avLst/>
          </a:prstGeom>
        </p:spPr>
        <p:txBody>
          <a:bodyPr wrap="square" lIns="0" tIns="0" rIns="0" bIns="0" rtlCol="0" anchor="t">
            <a:spAutoFit/>
          </a:bodyPr>
          <a:lstStyle/>
          <a:p>
            <a:r>
              <a:rPr lang="en-IN" sz="2800" dirty="0">
                <a:solidFill>
                  <a:srgbClr val="002B58"/>
                </a:solidFill>
                <a:latin typeface="Monda"/>
              </a:rPr>
              <a:t>Software:</a:t>
            </a:r>
          </a:p>
          <a:p>
            <a:r>
              <a:rPr lang="en-IN" sz="2800" dirty="0">
                <a:solidFill>
                  <a:srgbClr val="002B58"/>
                </a:solidFill>
                <a:latin typeface="Monda"/>
              </a:rPr>
              <a:t>Fusion 360 – Mechanical design &amp; digital twin</a:t>
            </a:r>
          </a:p>
          <a:p>
            <a:r>
              <a:rPr lang="en-IN" sz="2800" dirty="0">
                <a:solidFill>
                  <a:srgbClr val="002B58"/>
                </a:solidFill>
                <a:latin typeface="Monda"/>
              </a:rPr>
              <a:t>Arduino IDE – Control logic</a:t>
            </a:r>
          </a:p>
          <a:p>
            <a:r>
              <a:rPr lang="en-IN" sz="2800" dirty="0" err="1">
                <a:solidFill>
                  <a:srgbClr val="002B58"/>
                </a:solidFill>
                <a:latin typeface="Monda"/>
              </a:rPr>
              <a:t>Tinkercad</a:t>
            </a:r>
            <a:r>
              <a:rPr lang="en-IN" sz="2800" dirty="0">
                <a:solidFill>
                  <a:srgbClr val="002B58"/>
                </a:solidFill>
                <a:latin typeface="Monda"/>
              </a:rPr>
              <a:t> – Logic simulation</a:t>
            </a:r>
          </a:p>
          <a:p>
            <a:r>
              <a:rPr lang="en-IN" sz="2800" dirty="0">
                <a:solidFill>
                  <a:srgbClr val="002B58"/>
                </a:solidFill>
                <a:latin typeface="Monda"/>
              </a:rPr>
              <a:t>IoT Platform (</a:t>
            </a:r>
            <a:r>
              <a:rPr lang="en-IN" sz="2800" dirty="0" err="1">
                <a:solidFill>
                  <a:srgbClr val="002B58"/>
                </a:solidFill>
                <a:latin typeface="Monda"/>
              </a:rPr>
              <a:t>ThingSpeak</a:t>
            </a:r>
            <a:r>
              <a:rPr lang="en-IN" sz="2800" dirty="0">
                <a:solidFill>
                  <a:srgbClr val="002B58"/>
                </a:solidFill>
                <a:latin typeface="Monda"/>
              </a:rPr>
              <a:t> / Blynk)</a:t>
            </a:r>
          </a:p>
          <a:p>
            <a:r>
              <a:rPr lang="en-IN" sz="2800" dirty="0">
                <a:solidFill>
                  <a:srgbClr val="002B58"/>
                </a:solidFill>
                <a:latin typeface="Monda"/>
              </a:rPr>
              <a:t>Draw.io – Workflow &amp; system diagrams</a:t>
            </a:r>
          </a:p>
          <a:p>
            <a:pPr algn="l">
              <a:lnSpc>
                <a:spcPts val="4555"/>
              </a:lnSpc>
            </a:pPr>
            <a:endParaRPr lang="en-US" sz="3253" dirty="0">
              <a:solidFill>
                <a:srgbClr val="002B58"/>
              </a:solidFill>
              <a:latin typeface="Monda"/>
              <a:ea typeface="Monda"/>
              <a:cs typeface="Monda"/>
              <a:sym typeface="Mond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5FB50A-332D-D8C5-A6F3-7FF2B018D5E1}"/>
              </a:ext>
            </a:extLst>
          </p:cNvPr>
          <p:cNvPicPr>
            <a:picLocks noChangeAspect="1"/>
          </p:cNvPicPr>
          <p:nvPr/>
        </p:nvPicPr>
        <p:blipFill>
          <a:blip r:embed="rId2"/>
          <a:stretch>
            <a:fillRect/>
          </a:stretch>
        </p:blipFill>
        <p:spPr>
          <a:xfrm>
            <a:off x="3487" y="8808"/>
            <a:ext cx="18281026" cy="10269383"/>
          </a:xfrm>
          <a:prstGeom prst="rect">
            <a:avLst/>
          </a:prstGeom>
        </p:spPr>
      </p:pic>
    </p:spTree>
    <p:extLst>
      <p:ext uri="{BB962C8B-B14F-4D97-AF65-F5344CB8AC3E}">
        <p14:creationId xmlns:p14="http://schemas.microsoft.com/office/powerpoint/2010/main" val="441558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3074E-3014-AA92-32DD-B47AB54819B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5B0283F-D2D2-682C-3B72-E977D06D78B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sp>
      <p:sp>
        <p:nvSpPr>
          <p:cNvPr id="3" name="Freeform 3">
            <a:extLst>
              <a:ext uri="{FF2B5EF4-FFF2-40B4-BE49-F238E27FC236}">
                <a16:creationId xmlns:a16="http://schemas.microsoft.com/office/drawing/2014/main" id="{25410556-00D5-8339-B4E0-5A6878C5601B}"/>
              </a:ext>
            </a:extLst>
          </p:cNvPr>
          <p:cNvSpPr/>
          <p:nvPr/>
        </p:nvSpPr>
        <p:spPr>
          <a:xfrm flipH="1">
            <a:off x="10273278" y="5039691"/>
            <a:ext cx="8014722" cy="5247309"/>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16357" t="-926" r="381" b="-12445"/>
            </a:stretch>
          </a:blipFill>
        </p:spPr>
      </p:sp>
      <p:sp>
        <p:nvSpPr>
          <p:cNvPr id="6" name="TextBox 6">
            <a:extLst>
              <a:ext uri="{FF2B5EF4-FFF2-40B4-BE49-F238E27FC236}">
                <a16:creationId xmlns:a16="http://schemas.microsoft.com/office/drawing/2014/main" id="{A88EFE5D-CB4B-C105-4FC2-3530E25AD901}"/>
              </a:ext>
            </a:extLst>
          </p:cNvPr>
          <p:cNvSpPr txBox="1"/>
          <p:nvPr/>
        </p:nvSpPr>
        <p:spPr>
          <a:xfrm>
            <a:off x="601046" y="266884"/>
            <a:ext cx="16658254" cy="1386342"/>
          </a:xfrm>
          <a:prstGeom prst="rect">
            <a:avLst/>
          </a:prstGeom>
        </p:spPr>
        <p:txBody>
          <a:bodyPr lIns="0" tIns="0" rIns="0" bIns="0" rtlCol="0" anchor="t">
            <a:spAutoFit/>
          </a:bodyPr>
          <a:lstStyle/>
          <a:p>
            <a:pPr algn="l">
              <a:lnSpc>
                <a:spcPts val="11248"/>
              </a:lnSpc>
            </a:pPr>
            <a:r>
              <a:rPr lang="en-US" sz="8034" b="1" dirty="0">
                <a:solidFill>
                  <a:srgbClr val="002B58"/>
                </a:solidFill>
                <a:latin typeface="Monda Bold"/>
                <a:ea typeface="Monda Bold"/>
                <a:cs typeface="Monda Bold"/>
                <a:sym typeface="Monda Bold"/>
              </a:rPr>
              <a:t>Novelty and USPs</a:t>
            </a:r>
          </a:p>
        </p:txBody>
      </p:sp>
      <p:sp>
        <p:nvSpPr>
          <p:cNvPr id="7" name="Freeform 7">
            <a:extLst>
              <a:ext uri="{FF2B5EF4-FFF2-40B4-BE49-F238E27FC236}">
                <a16:creationId xmlns:a16="http://schemas.microsoft.com/office/drawing/2014/main" id="{4977A3F5-A33C-CD35-2A54-31918F5F8736}"/>
              </a:ext>
            </a:extLst>
          </p:cNvPr>
          <p:cNvSpPr/>
          <p:nvPr/>
        </p:nvSpPr>
        <p:spPr>
          <a:xfrm>
            <a:off x="601046" y="2525990"/>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a:extLst>
              <a:ext uri="{FF2B5EF4-FFF2-40B4-BE49-F238E27FC236}">
                <a16:creationId xmlns:a16="http://schemas.microsoft.com/office/drawing/2014/main" id="{25D50E80-C361-5AD1-335D-45EBD8CDDFC2}"/>
              </a:ext>
            </a:extLst>
          </p:cNvPr>
          <p:cNvSpPr txBox="1"/>
          <p:nvPr/>
        </p:nvSpPr>
        <p:spPr>
          <a:xfrm>
            <a:off x="1752600" y="2311491"/>
            <a:ext cx="13747025" cy="3159839"/>
          </a:xfrm>
          <a:prstGeom prst="rect">
            <a:avLst/>
          </a:prstGeom>
        </p:spPr>
        <p:txBody>
          <a:bodyPr lIns="0" tIns="0" rIns="0" bIns="0" rtlCol="0" anchor="t">
            <a:spAutoFit/>
          </a:bodyPr>
          <a:lstStyle/>
          <a:p>
            <a:pPr algn="l">
              <a:lnSpc>
                <a:spcPts val="4555"/>
              </a:lnSpc>
            </a:pPr>
            <a:r>
              <a:rPr lang="en-US" sz="3253" dirty="0">
                <a:solidFill>
                  <a:srgbClr val="002B58"/>
                </a:solidFill>
                <a:latin typeface="Monda"/>
                <a:ea typeface="Monda"/>
                <a:cs typeface="Monda"/>
                <a:sym typeface="Monda"/>
              </a:rPr>
              <a:t>Novelty:</a:t>
            </a:r>
          </a:p>
          <a:p>
            <a:pPr marL="457200" indent="-457200">
              <a:buFont typeface="Arial" panose="020B0604020202020204" pitchFamily="34" charset="0"/>
              <a:buChar char="•"/>
            </a:pPr>
            <a:r>
              <a:rPr lang="en-IN" sz="3253" dirty="0">
                <a:solidFill>
                  <a:srgbClr val="002B58"/>
                </a:solidFill>
                <a:latin typeface="Monda"/>
              </a:rPr>
              <a:t>Adaptive cleaning strategy instead of static paths</a:t>
            </a:r>
          </a:p>
          <a:p>
            <a:pPr marL="457200" indent="-457200">
              <a:buFont typeface="Arial" panose="020B0604020202020204" pitchFamily="34" charset="0"/>
              <a:buChar char="•"/>
            </a:pPr>
            <a:r>
              <a:rPr lang="en-IN" sz="3253" dirty="0">
                <a:solidFill>
                  <a:srgbClr val="002B58"/>
                </a:solidFill>
                <a:latin typeface="Monda"/>
              </a:rPr>
              <a:t>Waste-density-based decision making</a:t>
            </a:r>
          </a:p>
          <a:p>
            <a:pPr marL="457200" indent="-457200">
              <a:buFont typeface="Arial" panose="020B0604020202020204" pitchFamily="34" charset="0"/>
              <a:buChar char="•"/>
            </a:pPr>
            <a:r>
              <a:rPr lang="en-IN" sz="3253" dirty="0">
                <a:solidFill>
                  <a:srgbClr val="002B58"/>
                </a:solidFill>
                <a:latin typeface="Monda"/>
              </a:rPr>
              <a:t>Digital Twin driven design validation</a:t>
            </a:r>
          </a:p>
          <a:p>
            <a:pPr marL="457200" indent="-457200">
              <a:buFont typeface="Arial" panose="020B0604020202020204" pitchFamily="34" charset="0"/>
              <a:buChar char="•"/>
            </a:pPr>
            <a:r>
              <a:rPr lang="en-IN" sz="3253" dirty="0">
                <a:solidFill>
                  <a:srgbClr val="002B58"/>
                </a:solidFill>
                <a:latin typeface="Monda"/>
              </a:rPr>
              <a:t>Pollution data generation, not just waste removal</a:t>
            </a:r>
          </a:p>
          <a:p>
            <a:pPr algn="l">
              <a:lnSpc>
                <a:spcPts val="4555"/>
              </a:lnSpc>
            </a:pPr>
            <a:endParaRPr lang="en-US" sz="3253" dirty="0">
              <a:solidFill>
                <a:srgbClr val="002B58"/>
              </a:solidFill>
              <a:latin typeface="Monda"/>
              <a:ea typeface="Monda"/>
              <a:cs typeface="Monda"/>
              <a:sym typeface="Monda"/>
            </a:endParaRPr>
          </a:p>
        </p:txBody>
      </p:sp>
      <p:sp>
        <p:nvSpPr>
          <p:cNvPr id="11" name="Freeform 7">
            <a:extLst>
              <a:ext uri="{FF2B5EF4-FFF2-40B4-BE49-F238E27FC236}">
                <a16:creationId xmlns:a16="http://schemas.microsoft.com/office/drawing/2014/main" id="{56EE4644-070B-3CCF-6D56-02352D687DF9}"/>
              </a:ext>
            </a:extLst>
          </p:cNvPr>
          <p:cNvSpPr/>
          <p:nvPr/>
        </p:nvSpPr>
        <p:spPr>
          <a:xfrm>
            <a:off x="496494" y="5039691"/>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TextBox 10">
            <a:extLst>
              <a:ext uri="{FF2B5EF4-FFF2-40B4-BE49-F238E27FC236}">
                <a16:creationId xmlns:a16="http://schemas.microsoft.com/office/drawing/2014/main" id="{B578CC3C-F52F-66F5-E9DE-28F9A33B460B}"/>
              </a:ext>
            </a:extLst>
          </p:cNvPr>
          <p:cNvSpPr txBox="1"/>
          <p:nvPr/>
        </p:nvSpPr>
        <p:spPr>
          <a:xfrm>
            <a:off x="1604805" y="5081058"/>
            <a:ext cx="13747025" cy="4250331"/>
          </a:xfrm>
          <a:prstGeom prst="rect">
            <a:avLst/>
          </a:prstGeom>
        </p:spPr>
        <p:txBody>
          <a:bodyPr lIns="0" tIns="0" rIns="0" bIns="0" rtlCol="0" anchor="t">
            <a:spAutoFit/>
          </a:bodyPr>
          <a:lstStyle/>
          <a:p>
            <a:pPr algn="l">
              <a:lnSpc>
                <a:spcPts val="4555"/>
              </a:lnSpc>
            </a:pPr>
            <a:r>
              <a:rPr lang="en-IN" sz="3253" dirty="0">
                <a:solidFill>
                  <a:srgbClr val="002B58"/>
                </a:solidFill>
                <a:latin typeface="Monda"/>
              </a:rPr>
              <a:t>UNIQUE SELLING POINTS (USPs):</a:t>
            </a:r>
          </a:p>
          <a:p>
            <a:pPr algn="l">
              <a:lnSpc>
                <a:spcPts val="4555"/>
              </a:lnSpc>
            </a:pPr>
            <a:endParaRPr lang="en-IN" sz="3253" dirty="0">
              <a:solidFill>
                <a:srgbClr val="002B58"/>
              </a:solidFill>
              <a:latin typeface="Monda"/>
            </a:endParaRPr>
          </a:p>
          <a:p>
            <a:pPr marL="457200" indent="-457200">
              <a:buFont typeface="Arial" panose="020B0604020202020204" pitchFamily="34" charset="0"/>
              <a:buChar char="•"/>
            </a:pPr>
            <a:r>
              <a:rPr lang="en-IN" sz="3253" dirty="0">
                <a:solidFill>
                  <a:srgbClr val="002B58"/>
                </a:solidFill>
                <a:latin typeface="Monda"/>
              </a:rPr>
              <a:t>Higher cleaning efficiency per mission</a:t>
            </a:r>
          </a:p>
          <a:p>
            <a:pPr marL="457200" indent="-457200">
              <a:buFont typeface="Arial" panose="020B0604020202020204" pitchFamily="34" charset="0"/>
              <a:buChar char="•"/>
            </a:pPr>
            <a:r>
              <a:rPr lang="en-IN" sz="3253" dirty="0">
                <a:solidFill>
                  <a:srgbClr val="002B58"/>
                </a:solidFill>
                <a:latin typeface="Monda"/>
              </a:rPr>
              <a:t>Reduced energy consumption</a:t>
            </a:r>
          </a:p>
          <a:p>
            <a:pPr marL="457200" indent="-457200">
              <a:buFont typeface="Arial" panose="020B0604020202020204" pitchFamily="34" charset="0"/>
              <a:buChar char="•"/>
            </a:pPr>
            <a:r>
              <a:rPr lang="en-IN" sz="3253" dirty="0">
                <a:solidFill>
                  <a:srgbClr val="002B58"/>
                </a:solidFill>
                <a:latin typeface="Monda"/>
              </a:rPr>
              <a:t>Scalable for lakes, reservoirs, and </a:t>
            </a:r>
            <a:r>
              <a:rPr lang="en-IN" sz="3253" dirty="0" err="1">
                <a:solidFill>
                  <a:srgbClr val="002B58"/>
                </a:solidFill>
                <a:latin typeface="Monda"/>
              </a:rPr>
              <a:t>harbors</a:t>
            </a:r>
            <a:endParaRPr lang="en-IN" sz="3253" dirty="0">
              <a:solidFill>
                <a:srgbClr val="002B58"/>
              </a:solidFill>
              <a:latin typeface="Monda"/>
            </a:endParaRPr>
          </a:p>
          <a:p>
            <a:pPr marL="457200" indent="-457200">
              <a:buFont typeface="Arial" panose="020B0604020202020204" pitchFamily="34" charset="0"/>
              <a:buChar char="•"/>
            </a:pPr>
            <a:r>
              <a:rPr lang="en-IN" sz="3253" dirty="0">
                <a:solidFill>
                  <a:srgbClr val="002B58"/>
                </a:solidFill>
                <a:latin typeface="Monda"/>
              </a:rPr>
              <a:t>Actionable environmental data for authorities</a:t>
            </a:r>
          </a:p>
          <a:p>
            <a:pPr marL="457200" indent="-457200">
              <a:buFont typeface="Arial" panose="020B0604020202020204" pitchFamily="34" charset="0"/>
              <a:buChar char="•"/>
            </a:pPr>
            <a:r>
              <a:rPr lang="en-IN" sz="3253" dirty="0">
                <a:solidFill>
                  <a:srgbClr val="002B58"/>
                </a:solidFill>
                <a:latin typeface="Monda"/>
              </a:rPr>
              <a:t>Our robot cleans AND informs.</a:t>
            </a:r>
          </a:p>
          <a:p>
            <a:pPr algn="l">
              <a:lnSpc>
                <a:spcPts val="4555"/>
              </a:lnSpc>
            </a:pPr>
            <a:endParaRPr lang="en-US" sz="3253" dirty="0">
              <a:solidFill>
                <a:srgbClr val="002B58"/>
              </a:solidFill>
              <a:latin typeface="Monda"/>
              <a:ea typeface="Monda"/>
              <a:cs typeface="Monda"/>
              <a:sym typeface="Monda"/>
            </a:endParaRPr>
          </a:p>
        </p:txBody>
      </p:sp>
    </p:spTree>
    <p:extLst>
      <p:ext uri="{BB962C8B-B14F-4D97-AF65-F5344CB8AC3E}">
        <p14:creationId xmlns:p14="http://schemas.microsoft.com/office/powerpoint/2010/main" val="1163551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987F5-8690-A68D-FE04-02D9A491E6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7A71ED-A851-F6F3-3A68-7FC95BAB92A2}"/>
              </a:ext>
            </a:extLst>
          </p:cNvPr>
          <p:cNvPicPr>
            <a:picLocks noChangeAspect="1"/>
          </p:cNvPicPr>
          <p:nvPr/>
        </p:nvPicPr>
        <p:blipFill>
          <a:blip r:embed="rId2"/>
          <a:stretch>
            <a:fillRect/>
          </a:stretch>
        </p:blipFill>
        <p:spPr>
          <a:xfrm>
            <a:off x="10866989" y="-119189"/>
            <a:ext cx="7421011" cy="10406189"/>
          </a:xfrm>
          <a:prstGeom prst="rect">
            <a:avLst/>
          </a:prstGeom>
        </p:spPr>
      </p:pic>
      <p:sp>
        <p:nvSpPr>
          <p:cNvPr id="6" name="TextBox 6">
            <a:extLst>
              <a:ext uri="{FF2B5EF4-FFF2-40B4-BE49-F238E27FC236}">
                <a16:creationId xmlns:a16="http://schemas.microsoft.com/office/drawing/2014/main" id="{85070206-8178-F081-3FBF-EEA34655641A}"/>
              </a:ext>
            </a:extLst>
          </p:cNvPr>
          <p:cNvSpPr txBox="1"/>
          <p:nvPr/>
        </p:nvSpPr>
        <p:spPr>
          <a:xfrm>
            <a:off x="601046" y="266884"/>
            <a:ext cx="16658254" cy="1415772"/>
          </a:xfrm>
          <a:prstGeom prst="rect">
            <a:avLst/>
          </a:prstGeom>
        </p:spPr>
        <p:txBody>
          <a:bodyPr lIns="0" tIns="0" rIns="0" bIns="0" rtlCol="0" anchor="t">
            <a:spAutoFit/>
          </a:bodyPr>
          <a:lstStyle/>
          <a:p>
            <a:pPr>
              <a:lnSpc>
                <a:spcPts val="11248"/>
              </a:lnSpc>
            </a:pPr>
            <a:r>
              <a:rPr lang="en-US" sz="8034" b="1" dirty="0">
                <a:solidFill>
                  <a:srgbClr val="002B58"/>
                </a:solidFill>
                <a:latin typeface="Monda Bold"/>
                <a:ea typeface="Monda Bold"/>
                <a:cs typeface="Monda Bold"/>
                <a:sym typeface="Monda Bold"/>
              </a:rPr>
              <a:t>SDGs </a:t>
            </a:r>
            <a:r>
              <a:rPr lang="en-IN" sz="8034" b="1" dirty="0">
                <a:solidFill>
                  <a:srgbClr val="002B58"/>
                </a:solidFill>
                <a:latin typeface="Monda Bold"/>
              </a:rPr>
              <a:t>ADDRESSE</a:t>
            </a:r>
            <a:r>
              <a:rPr lang="en-IN" sz="8800" b="1" dirty="0">
                <a:solidFill>
                  <a:srgbClr val="002B58"/>
                </a:solidFill>
                <a:latin typeface="Monda Bold"/>
              </a:rPr>
              <a:t>D</a:t>
            </a:r>
            <a:endParaRPr lang="en-US" sz="8034" b="1" dirty="0">
              <a:solidFill>
                <a:srgbClr val="002B58"/>
              </a:solidFill>
              <a:latin typeface="Monda Bold"/>
              <a:ea typeface="Monda Bold"/>
              <a:cs typeface="Monda Bold"/>
              <a:sym typeface="Monda Bold"/>
            </a:endParaRPr>
          </a:p>
        </p:txBody>
      </p:sp>
      <p:sp>
        <p:nvSpPr>
          <p:cNvPr id="7" name="Freeform 7">
            <a:extLst>
              <a:ext uri="{FF2B5EF4-FFF2-40B4-BE49-F238E27FC236}">
                <a16:creationId xmlns:a16="http://schemas.microsoft.com/office/drawing/2014/main" id="{EA5940E7-3DFA-EE04-D452-C3EB8796C683}"/>
              </a:ext>
            </a:extLst>
          </p:cNvPr>
          <p:cNvSpPr/>
          <p:nvPr/>
        </p:nvSpPr>
        <p:spPr>
          <a:xfrm>
            <a:off x="132426" y="1667434"/>
            <a:ext cx="980313" cy="801406"/>
          </a:xfrm>
          <a:custGeom>
            <a:avLst/>
            <a:gdLst/>
            <a:ahLst/>
            <a:cxnLst/>
            <a:rect l="l" t="t" r="r" b="b"/>
            <a:pathLst>
              <a:path w="980313" h="801406">
                <a:moveTo>
                  <a:pt x="0" y="0"/>
                </a:moveTo>
                <a:lnTo>
                  <a:pt x="980313" y="0"/>
                </a:lnTo>
                <a:lnTo>
                  <a:pt x="980313" y="801405"/>
                </a:lnTo>
                <a:lnTo>
                  <a:pt x="0" y="8014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a:extLst>
              <a:ext uri="{FF2B5EF4-FFF2-40B4-BE49-F238E27FC236}">
                <a16:creationId xmlns:a16="http://schemas.microsoft.com/office/drawing/2014/main" id="{D675D7D4-EF06-0E0F-E615-B5DCC153D087}"/>
              </a:ext>
            </a:extLst>
          </p:cNvPr>
          <p:cNvSpPr txBox="1"/>
          <p:nvPr/>
        </p:nvSpPr>
        <p:spPr>
          <a:xfrm>
            <a:off x="1447801" y="1667434"/>
            <a:ext cx="8915400" cy="8129790"/>
          </a:xfrm>
          <a:prstGeom prst="rect">
            <a:avLst/>
          </a:prstGeom>
        </p:spPr>
        <p:txBody>
          <a:bodyPr wrap="square" lIns="0" tIns="0" rIns="0" bIns="0" rtlCol="0" anchor="t">
            <a:spAutoFit/>
          </a:bodyPr>
          <a:lstStyle/>
          <a:p>
            <a:r>
              <a:rPr lang="en-US" sz="3253" dirty="0">
                <a:solidFill>
                  <a:srgbClr val="002B58"/>
                </a:solidFill>
                <a:latin typeface="Monda"/>
              </a:rPr>
              <a:t>Enhancing Ecosystems and Public Health</a:t>
            </a:r>
          </a:p>
          <a:p>
            <a:endParaRPr lang="en-US" sz="3600" dirty="0">
              <a:solidFill>
                <a:srgbClr val="002B58"/>
              </a:solidFill>
              <a:latin typeface="Monda"/>
            </a:endParaRPr>
          </a:p>
          <a:p>
            <a:r>
              <a:rPr lang="en-IN" sz="3253" dirty="0">
                <a:solidFill>
                  <a:srgbClr val="002B58"/>
                </a:solidFill>
                <a:latin typeface="Monda"/>
              </a:rPr>
              <a:t>SDG 6 – Clean Water and Sanitation</a:t>
            </a:r>
          </a:p>
          <a:p>
            <a:r>
              <a:rPr lang="en-IN" sz="3253" dirty="0">
                <a:solidFill>
                  <a:srgbClr val="002B58"/>
                </a:solidFill>
                <a:latin typeface="Monda"/>
              </a:rPr>
              <a:t>Reduces floating waste and surface pollutants.</a:t>
            </a:r>
          </a:p>
          <a:p>
            <a:r>
              <a:rPr lang="en-IN" sz="3253" dirty="0">
                <a:solidFill>
                  <a:srgbClr val="002B58"/>
                </a:solidFill>
                <a:latin typeface="Monda"/>
              </a:rPr>
              <a:t>SDG 11 – Sustainable Cities and Communities</a:t>
            </a:r>
          </a:p>
          <a:p>
            <a:r>
              <a:rPr lang="en-IN" sz="3253" dirty="0">
                <a:solidFill>
                  <a:srgbClr val="002B58"/>
                </a:solidFill>
                <a:latin typeface="Monda"/>
              </a:rPr>
              <a:t>Improves urban water bodies and public hygiene.</a:t>
            </a:r>
          </a:p>
          <a:p>
            <a:r>
              <a:rPr lang="en-IN" sz="3253" dirty="0">
                <a:solidFill>
                  <a:srgbClr val="002B58"/>
                </a:solidFill>
                <a:latin typeface="Monda"/>
              </a:rPr>
              <a:t>SDG 13 – Climate Action</a:t>
            </a:r>
          </a:p>
          <a:p>
            <a:r>
              <a:rPr lang="en-IN" sz="3253" dirty="0">
                <a:solidFill>
                  <a:srgbClr val="002B58"/>
                </a:solidFill>
                <a:latin typeface="Monda"/>
              </a:rPr>
              <a:t>Prevents plastic and waste from entering marine ecosystems.</a:t>
            </a:r>
          </a:p>
          <a:p>
            <a:r>
              <a:rPr lang="en-IN" sz="3253" dirty="0">
                <a:solidFill>
                  <a:srgbClr val="002B58"/>
                </a:solidFill>
                <a:latin typeface="Monda"/>
              </a:rPr>
              <a:t>SDG 14 – Life Below Water</a:t>
            </a:r>
          </a:p>
          <a:p>
            <a:r>
              <a:rPr lang="en-IN" sz="3253" dirty="0">
                <a:solidFill>
                  <a:srgbClr val="002B58"/>
                </a:solidFill>
                <a:latin typeface="Monda"/>
              </a:rPr>
              <a:t>Protects aquatic life from surface-level pollution.</a:t>
            </a:r>
          </a:p>
          <a:p>
            <a:pPr algn="l">
              <a:lnSpc>
                <a:spcPts val="4555"/>
              </a:lnSpc>
            </a:pPr>
            <a:endParaRPr lang="en-US" sz="3253" dirty="0">
              <a:solidFill>
                <a:srgbClr val="002B58"/>
              </a:solidFill>
              <a:latin typeface="Monda"/>
              <a:ea typeface="Monda"/>
              <a:cs typeface="Monda"/>
              <a:sym typeface="Monda"/>
            </a:endParaRPr>
          </a:p>
        </p:txBody>
      </p:sp>
    </p:spTree>
    <p:extLst>
      <p:ext uri="{BB962C8B-B14F-4D97-AF65-F5344CB8AC3E}">
        <p14:creationId xmlns:p14="http://schemas.microsoft.com/office/powerpoint/2010/main" val="1169671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7" b="-777"/>
            </a:stretch>
          </a:blipFill>
        </p:spPr>
      </p:sp>
      <p:sp>
        <p:nvSpPr>
          <p:cNvPr id="3" name="Freeform 3"/>
          <p:cNvSpPr/>
          <p:nvPr/>
        </p:nvSpPr>
        <p:spPr>
          <a:xfrm flipH="1">
            <a:off x="10273278" y="5039692"/>
            <a:ext cx="8014722" cy="5247308"/>
          </a:xfrm>
          <a:custGeom>
            <a:avLst/>
            <a:gdLst/>
            <a:ahLst/>
            <a:cxnLst/>
            <a:rect l="l" t="t" r="r" b="b"/>
            <a:pathLst>
              <a:path w="9295205" h="5948931">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15976" b="-13372"/>
            </a:stretch>
          </a:blipFill>
        </p:spPr>
      </p:sp>
      <p:sp>
        <p:nvSpPr>
          <p:cNvPr id="4" name="Freeform 4"/>
          <p:cNvSpPr/>
          <p:nvPr/>
        </p:nvSpPr>
        <p:spPr>
          <a:xfrm flipV="1">
            <a:off x="0" y="-1"/>
            <a:ext cx="8014722" cy="5247307"/>
          </a:xfrm>
          <a:custGeom>
            <a:avLst/>
            <a:gdLst/>
            <a:ahLst/>
            <a:cxnLst/>
            <a:rect l="l" t="t" r="r" b="b"/>
            <a:pathLst>
              <a:path w="9295205" h="5948931">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15976" b="-13372"/>
            </a:stretch>
          </a:blipFill>
        </p:spPr>
      </p:sp>
      <p:sp>
        <p:nvSpPr>
          <p:cNvPr id="7" name="TextBox 7"/>
          <p:cNvSpPr txBox="1"/>
          <p:nvPr/>
        </p:nvSpPr>
        <p:spPr>
          <a:xfrm>
            <a:off x="2743480" y="4098823"/>
            <a:ext cx="12801040" cy="2164054"/>
          </a:xfrm>
          <a:prstGeom prst="rect">
            <a:avLst/>
          </a:prstGeom>
        </p:spPr>
        <p:txBody>
          <a:bodyPr lIns="0" tIns="0" rIns="0" bIns="0" rtlCol="0" anchor="t">
            <a:spAutoFit/>
          </a:bodyPr>
          <a:lstStyle/>
          <a:p>
            <a:pPr algn="ctr">
              <a:lnSpc>
                <a:spcPts val="17500"/>
              </a:lnSpc>
            </a:pPr>
            <a:r>
              <a:rPr lang="en-US" sz="12500" b="1" dirty="0">
                <a:solidFill>
                  <a:srgbClr val="002B58"/>
                </a:solidFill>
                <a:latin typeface="Monda Bold"/>
                <a:ea typeface="Monda Bold"/>
                <a:cs typeface="Monda Bold"/>
                <a:sym typeface="Monda Bold"/>
              </a:rPr>
              <a:t>THANK YOU!</a:t>
            </a:r>
          </a:p>
        </p:txBody>
      </p:sp>
      <p:sp>
        <p:nvSpPr>
          <p:cNvPr id="6" name="TextBox 5">
            <a:extLst>
              <a:ext uri="{FF2B5EF4-FFF2-40B4-BE49-F238E27FC236}">
                <a16:creationId xmlns:a16="http://schemas.microsoft.com/office/drawing/2014/main" id="{65921DD8-68D7-B4F7-87C0-B53C6599EE85}"/>
              </a:ext>
            </a:extLst>
          </p:cNvPr>
          <p:cNvSpPr txBox="1"/>
          <p:nvPr/>
        </p:nvSpPr>
        <p:spPr>
          <a:xfrm>
            <a:off x="7086600" y="6609292"/>
            <a:ext cx="9144000" cy="1204945"/>
          </a:xfrm>
          <a:prstGeom prst="rect">
            <a:avLst/>
          </a:prstGeom>
          <a:noFill/>
        </p:spPr>
        <p:txBody>
          <a:bodyPr wrap="square">
            <a:spAutoFit/>
          </a:bodyPr>
          <a:lstStyle/>
          <a:p>
            <a:pPr>
              <a:lnSpc>
                <a:spcPts val="4350"/>
              </a:lnSpc>
              <a:buNone/>
            </a:pPr>
            <a:r>
              <a:rPr lang="en-IN" sz="3253" dirty="0">
                <a:solidFill>
                  <a:srgbClr val="002B58"/>
                </a:solidFill>
                <a:latin typeface="Monda"/>
              </a:rPr>
              <a:t>Team: Sky Forge</a:t>
            </a:r>
          </a:p>
          <a:p>
            <a:pPr>
              <a:lnSpc>
                <a:spcPts val="4350"/>
              </a:lnSpc>
              <a:buNone/>
            </a:pPr>
            <a:r>
              <a:rPr lang="en-IN" sz="3253" dirty="0">
                <a:solidFill>
                  <a:srgbClr val="002B58"/>
                </a:solidFill>
                <a:latin typeface="Monda"/>
              </a:rPr>
              <a:t>College: VIT Vellore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TotalTime>
  <Words>738</Words>
  <Application>Microsoft Office PowerPoint</Application>
  <PresentationFormat>Custom</PresentationFormat>
  <Paragraphs>96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Monda Bold</vt:lpstr>
      <vt:lpstr>Montserrat Bold</vt:lpstr>
      <vt:lpstr>Monda</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Template Innohack</dc:title>
  <dc:creator>Sanjana</dc:creator>
  <cp:lastModifiedBy>Sanjana B</cp:lastModifiedBy>
  <cp:revision>7</cp:revision>
  <dcterms:created xsi:type="dcterms:W3CDTF">2006-08-16T00:00:00Z</dcterms:created>
  <dcterms:modified xsi:type="dcterms:W3CDTF">2026-01-25T09:34:46Z</dcterms:modified>
  <dc:identifier>DAG9S8q_xxQ</dc:identifier>
</cp:coreProperties>
</file>